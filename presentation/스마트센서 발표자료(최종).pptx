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65" r:id="rId2"/>
    <p:sldId id="256" r:id="rId3"/>
    <p:sldId id="266" r:id="rId4"/>
    <p:sldId id="267" r:id="rId5"/>
    <p:sldId id="273" r:id="rId6"/>
    <p:sldId id="257" r:id="rId7"/>
    <p:sldId id="258" r:id="rId8"/>
    <p:sldId id="262" r:id="rId9"/>
    <p:sldId id="263" r:id="rId10"/>
    <p:sldId id="269" r:id="rId11"/>
    <p:sldId id="270" r:id="rId12"/>
    <p:sldId id="271" r:id="rId13"/>
    <p:sldId id="272" r:id="rId14"/>
    <p:sldId id="261" r:id="rId15"/>
    <p:sldId id="259" r:id="rId16"/>
    <p:sldId id="264" r:id="rId17"/>
  </p:sldIdLst>
  <p:sldSz cx="24384000" cy="13716000"/>
  <p:notesSz cx="6858000" cy="9144000"/>
  <p:embeddedFontLst>
    <p:embeddedFont>
      <p:font typeface="Pretendard Bold" panose="020B0600000101010101" charset="-127"/>
      <p:bold r:id="rId18"/>
    </p:embeddedFont>
    <p:embeddedFont>
      <p:font typeface="Pretendard Regular" panose="020B0600000101010101" charset="-127"/>
      <p:regular r:id="rId19"/>
    </p:embeddedFont>
    <p:embeddedFont>
      <p:font typeface="Pretendard" panose="02000503000000020004" pitchFamily="50" charset="-127"/>
      <p:regular r:id="rId20"/>
      <p:bold r:id="rId21"/>
    </p:embeddedFont>
    <p:embeddedFont>
      <p:font typeface="Pretendard Medium" panose="02000603000000020004" pitchFamily="50" charset="-127"/>
      <p:regular r:id="rId22"/>
      <p:bold r:id="rId23"/>
    </p:embeddedFont>
    <p:embeddedFont>
      <p:font typeface="Pretendard SemiBold" panose="02000703000000020004" pitchFamily="50" charset="-127"/>
      <p:bold r:id="rId24"/>
    </p:embeddedFont>
    <p:embeddedFont>
      <p:font typeface="Prompt-Light" panose="00000400000000000000" charset="-34"/>
      <p:regular r:id="rId25"/>
    </p:embeddedFont>
    <p:embeddedFont>
      <p:font typeface="Prompt-Medium" panose="00000600000000000000" charset="-34"/>
      <p:bold r:id="rId26"/>
    </p:embeddedFont>
    <p:embeddedFont>
      <p:font typeface="Prompt-Regular" panose="020B0600000101010101" charset="-34"/>
      <p:regular r:id="rId27"/>
    </p:embeddedFont>
    <p:embeddedFont>
      <p:font typeface="Prompt-SemiBold" panose="00000700000000000000" charset="-34"/>
      <p:bold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63" autoAdjust="0"/>
    <p:restoredTop sz="94622" autoAdjust="0"/>
  </p:normalViewPr>
  <p:slideViewPr>
    <p:cSldViewPr>
      <p:cViewPr varScale="1">
        <p:scale>
          <a:sx n="37" d="100"/>
          <a:sy n="37" d="100"/>
        </p:scale>
        <p:origin x="19" y="37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33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12" Type="http://schemas.openxmlformats.org/officeDocument/2006/relationships/image" Target="../media/image32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Relationship Id="rId14" Type="http://schemas.openxmlformats.org/officeDocument/2006/relationships/image" Target="../media/image3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0.png"/><Relationship Id="rId4" Type="http://schemas.openxmlformats.org/officeDocument/2006/relationships/image" Target="../media/image3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image" Target="../media/image51.png"/><Relationship Id="rId7" Type="http://schemas.openxmlformats.org/officeDocument/2006/relationships/image" Target="../media/image54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Relationship Id="rId9" Type="http://schemas.openxmlformats.org/officeDocument/2006/relationships/image" Target="../media/image56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3" Type="http://schemas.openxmlformats.org/officeDocument/2006/relationships/image" Target="../media/image58.png"/><Relationship Id="rId7" Type="http://schemas.openxmlformats.org/officeDocument/2006/relationships/image" Target="../media/image21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7" Type="http://schemas.openxmlformats.org/officeDocument/2006/relationships/image" Target="../media/image72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3" Type="http://schemas.openxmlformats.org/officeDocument/2006/relationships/image" Target="../media/image72.png"/><Relationship Id="rId7" Type="http://schemas.openxmlformats.org/officeDocument/2006/relationships/image" Target="../media/image76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5.png"/><Relationship Id="rId11" Type="http://schemas.openxmlformats.org/officeDocument/2006/relationships/image" Target="../media/image80.png"/><Relationship Id="rId5" Type="http://schemas.openxmlformats.org/officeDocument/2006/relationships/image" Target="../media/image74.png"/><Relationship Id="rId10" Type="http://schemas.openxmlformats.org/officeDocument/2006/relationships/image" Target="../media/image79.png"/><Relationship Id="rId4" Type="http://schemas.openxmlformats.org/officeDocument/2006/relationships/image" Target="../media/image70.png"/><Relationship Id="rId9" Type="http://schemas.openxmlformats.org/officeDocument/2006/relationships/image" Target="../media/image7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876300"/>
            <a:ext cx="22491700" cy="11950700"/>
          </a:xfrm>
          <a:prstGeom prst="rect">
            <a:avLst/>
          </a:prstGeom>
          <a:effectLst>
            <a:outerShdw blurRad="597747" dir="4080000">
              <a:srgbClr val="8FD0FE">
                <a:alpha val="30000"/>
              </a:srgbClr>
            </a:outerShdw>
          </a:effectLst>
        </p:spPr>
      </p:pic>
      <p:sp>
        <p:nvSpPr>
          <p:cNvPr id="3" name="TextBox 3"/>
          <p:cNvSpPr txBox="1"/>
          <p:nvPr/>
        </p:nvSpPr>
        <p:spPr>
          <a:xfrm>
            <a:off x="19728873" y="11306267"/>
            <a:ext cx="3314700" cy="1143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200" b="0" i="0" u="none" strike="noStrike" spc="-200" dirty="0">
                <a:solidFill>
                  <a:srgbClr val="222222"/>
                </a:solidFill>
                <a:latin typeface="Pretendard Regular"/>
                <a:ea typeface="Pretendard Regular"/>
                <a:cs typeface="Pretendard Regular"/>
              </a:rPr>
              <a:t>202647012 </a:t>
            </a:r>
            <a:r>
              <a:rPr lang="en-US" sz="3200" b="0" i="0" u="none" strike="noStrike" spc="-200" dirty="0" err="1">
                <a:solidFill>
                  <a:srgbClr val="222222"/>
                </a:solidFill>
                <a:latin typeface="Pretendard Regular"/>
                <a:ea typeface="Pretendard Regular"/>
                <a:cs typeface="Pretendard Regular"/>
              </a:rPr>
              <a:t>김선재</a:t>
            </a:r>
            <a:endParaRPr lang="en-US" sz="3200" b="0" i="0" u="none" strike="noStrike" spc="-200" dirty="0">
              <a:solidFill>
                <a:srgbClr val="222222"/>
              </a:solidFill>
              <a:latin typeface="Pretendard Regular"/>
              <a:ea typeface="Pretendard Regular"/>
              <a:cs typeface="Pretendard Regular"/>
            </a:endParaRPr>
          </a:p>
          <a:p>
            <a:pPr lvl="0" algn="l">
              <a:lnSpc>
                <a:spcPct val="116199"/>
              </a:lnSpc>
            </a:pPr>
            <a:r>
              <a:rPr lang="en-US" sz="3200" b="0" i="0" u="none" strike="noStrike" spc="-200" dirty="0">
                <a:solidFill>
                  <a:srgbClr val="222222"/>
                </a:solidFill>
                <a:latin typeface="Pretendard Regular"/>
                <a:ea typeface="Pretendard Regular"/>
                <a:cs typeface="Pretendard Regular"/>
              </a:rPr>
              <a:t>202647017 임수정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1061700" y="7556500"/>
            <a:ext cx="13017500" cy="660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733" b="0" i="0" u="none" strike="noStrike" spc="-200" dirty="0">
                <a:solidFill>
                  <a:srgbClr val="595959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AR 및 </a:t>
            </a:r>
            <a:r>
              <a:rPr lang="en-US" sz="3733" b="0" i="0" u="none" strike="noStrike" spc="-200" dirty="0" err="1">
                <a:solidFill>
                  <a:srgbClr val="595959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하드웨어</a:t>
            </a:r>
            <a:r>
              <a:rPr lang="en-US" sz="3733" b="0" i="0" u="none" strike="noStrike" spc="-200" dirty="0">
                <a:solidFill>
                  <a:srgbClr val="595959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3733" b="0" i="0" u="none" strike="noStrike" spc="-200" dirty="0" err="1">
                <a:solidFill>
                  <a:srgbClr val="595959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센서</a:t>
            </a:r>
            <a:r>
              <a:rPr lang="en-US" sz="3733" b="0" i="0" u="none" strike="noStrike" spc="-200" dirty="0">
                <a:solidFill>
                  <a:srgbClr val="595959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3733" b="0" i="0" u="none" strike="noStrike" spc="-200" dirty="0" err="1">
                <a:solidFill>
                  <a:srgbClr val="595959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기반</a:t>
            </a:r>
            <a:r>
              <a:rPr lang="en-US" sz="3733" b="0" i="0" u="none" strike="noStrike" spc="-200" dirty="0">
                <a:solidFill>
                  <a:srgbClr val="595959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3733" b="0" i="0" u="none" strike="noStrike" spc="-200" dirty="0" err="1">
                <a:solidFill>
                  <a:srgbClr val="595959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실시간</a:t>
            </a:r>
            <a:r>
              <a:rPr lang="en-US" sz="3733" b="0" i="0" u="none" strike="noStrike" spc="-200" dirty="0">
                <a:solidFill>
                  <a:srgbClr val="595959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3733" b="0" i="0" u="none" strike="noStrike" spc="-200" dirty="0" err="1">
                <a:solidFill>
                  <a:srgbClr val="595959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전선</a:t>
            </a:r>
            <a:r>
              <a:rPr lang="en-US" sz="3733" b="0" i="0" u="none" strike="noStrike" spc="-200" dirty="0">
                <a:solidFill>
                  <a:srgbClr val="595959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3733" b="0" i="0" u="none" strike="noStrike" spc="-200" dirty="0" err="1">
                <a:solidFill>
                  <a:srgbClr val="595959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탐지</a:t>
            </a:r>
            <a:r>
              <a:rPr lang="en-US" sz="3733" b="0" i="0" u="none" strike="noStrike" spc="-200" dirty="0">
                <a:solidFill>
                  <a:srgbClr val="595959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&amp; </a:t>
            </a:r>
            <a:r>
              <a:rPr lang="en-US" sz="3733" b="0" i="0" u="none" strike="noStrike" spc="-200" dirty="0" err="1">
                <a:solidFill>
                  <a:srgbClr val="595959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정밀</a:t>
            </a:r>
            <a:r>
              <a:rPr lang="en-US" sz="3733" b="0" i="0" u="none" strike="noStrike" spc="-200" dirty="0">
                <a:solidFill>
                  <a:srgbClr val="595959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3733" b="0" i="0" u="none" strike="noStrike" spc="-200" dirty="0" err="1">
                <a:solidFill>
                  <a:srgbClr val="595959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수평계</a:t>
            </a:r>
            <a:r>
              <a:rPr lang="en-US" sz="3733" b="0" i="0" u="none" strike="noStrike" spc="-200" dirty="0">
                <a:solidFill>
                  <a:srgbClr val="595959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  </a:t>
            </a:r>
            <a:r>
              <a:rPr lang="en-US" sz="3733" b="0" i="0" u="none" strike="noStrike" spc="-200" dirty="0" err="1">
                <a:solidFill>
                  <a:srgbClr val="595959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프로젝트</a:t>
            </a:r>
            <a:endParaRPr lang="en-US" sz="3733" b="0" i="0" u="none" strike="noStrike" spc="-200" dirty="0">
              <a:solidFill>
                <a:srgbClr val="595959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1061700" y="6159500"/>
            <a:ext cx="15430500" cy="1397000"/>
          </a:xfrm>
          <a:prstGeom prst="rect">
            <a:avLst/>
          </a:prstGeom>
          <a:effectLst>
            <a:outerShdw dist="49953" dir="2700000">
              <a:srgbClr val="000000">
                <a:alpha val="40000"/>
              </a:srgbClr>
            </a:outerShdw>
          </a:effectLst>
        </p:spPr>
        <p:txBody>
          <a:bodyPr lIns="0" tIns="99907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7866" b="0" i="0" u="none" strike="noStrike" dirty="0">
                <a:solidFill>
                  <a:srgbClr val="2B76F4"/>
                </a:solidFill>
                <a:latin typeface="Pretendard SemiBold"/>
                <a:ea typeface="Pretendard SemiBold"/>
                <a:cs typeface="Pretendard SemiBold"/>
              </a:rPr>
              <a:t>SMART WALL-SAVER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3800" y="2463800"/>
            <a:ext cx="4051300" cy="83312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5700" y="2616200"/>
            <a:ext cx="6375400" cy="84836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>
            <a:off x="5575300" y="1993900"/>
            <a:ext cx="1879600" cy="1879600"/>
          </a:xfrm>
          <a:prstGeom prst="rect">
            <a:avLst/>
          </a:prstGeom>
          <a:effectLst>
            <a:outerShdw blurRad="187831" dist="28897" dir="4560000">
              <a:srgbClr val="3C84FF">
                <a:alpha val="20000"/>
              </a:srgbClr>
            </a:outerShdw>
          </a:effectLst>
        </p:spPr>
      </p:pic>
      <p:sp>
        <p:nvSpPr>
          <p:cNvPr id="11" name="TextBox 3">
            <a:extLst>
              <a:ext uri="{FF2B5EF4-FFF2-40B4-BE49-F238E27FC236}">
                <a16:creationId xmlns:a16="http://schemas.microsoft.com/office/drawing/2014/main" id="{53C73F48-60E8-4181-5C16-1AF5296B2988}"/>
              </a:ext>
            </a:extLst>
          </p:cNvPr>
          <p:cNvSpPr txBox="1"/>
          <p:nvPr/>
        </p:nvSpPr>
        <p:spPr>
          <a:xfrm>
            <a:off x="18587027" y="10610861"/>
            <a:ext cx="5327073" cy="674624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altLang="en-US" sz="3200" spc="-200" dirty="0">
                <a:solidFill>
                  <a:srgbClr val="222222"/>
                </a:solidFill>
                <a:latin typeface="Pretendard Regular"/>
                <a:ea typeface="Pretendard Regular"/>
                <a:cs typeface="Pretendard Regular"/>
              </a:rPr>
              <a:t>발표일 </a:t>
            </a:r>
            <a:r>
              <a:rPr lang="en-US" altLang="ko-KR" sz="3200" spc="-200" dirty="0">
                <a:solidFill>
                  <a:srgbClr val="222222"/>
                </a:solidFill>
                <a:latin typeface="Pretendard Regular"/>
                <a:ea typeface="Pretendard Regular"/>
                <a:cs typeface="Pretendard Regular"/>
              </a:rPr>
              <a:t>: </a:t>
            </a:r>
            <a:r>
              <a:rPr lang="en-US" sz="3200" spc="-200" dirty="0">
                <a:solidFill>
                  <a:srgbClr val="222222"/>
                </a:solidFill>
                <a:latin typeface="Pretendard Regular"/>
                <a:ea typeface="Pretendard Regular"/>
                <a:cs typeface="Pretendard Regular"/>
              </a:rPr>
              <a:t>2026</a:t>
            </a:r>
            <a:r>
              <a:rPr lang="ko-KR" altLang="en-US" sz="3200" spc="-200" dirty="0">
                <a:solidFill>
                  <a:srgbClr val="222222"/>
                </a:solidFill>
                <a:latin typeface="Pretendard Regular"/>
                <a:ea typeface="Pretendard Regular"/>
                <a:cs typeface="Pretendard Regular"/>
              </a:rPr>
              <a:t>년 </a:t>
            </a:r>
            <a:r>
              <a:rPr lang="en-US" altLang="ko-KR" sz="3200" spc="-200" dirty="0">
                <a:solidFill>
                  <a:srgbClr val="222222"/>
                </a:solidFill>
                <a:latin typeface="Pretendard Regular"/>
                <a:ea typeface="Pretendard Regular"/>
                <a:cs typeface="Pretendard Regular"/>
              </a:rPr>
              <a:t>06</a:t>
            </a:r>
            <a:r>
              <a:rPr lang="ko-KR" altLang="en-US" sz="3200" spc="-200" dirty="0">
                <a:solidFill>
                  <a:srgbClr val="222222"/>
                </a:solidFill>
                <a:latin typeface="Pretendard Regular"/>
                <a:ea typeface="Pretendard Regular"/>
                <a:cs typeface="Pretendard Regular"/>
              </a:rPr>
              <a:t>월 </a:t>
            </a:r>
            <a:r>
              <a:rPr lang="en-US" altLang="ko-KR" sz="3200" spc="-200" dirty="0">
                <a:solidFill>
                  <a:srgbClr val="222222"/>
                </a:solidFill>
                <a:latin typeface="Pretendard Regular"/>
                <a:ea typeface="Pretendard Regular"/>
                <a:cs typeface="Pretendard Regular"/>
              </a:rPr>
              <a:t>16</a:t>
            </a:r>
            <a:r>
              <a:rPr lang="ko-KR" altLang="en-US" sz="3200" spc="-200" dirty="0">
                <a:solidFill>
                  <a:srgbClr val="222222"/>
                </a:solidFill>
                <a:latin typeface="Pretendard Regular"/>
                <a:ea typeface="Pretendard Regular"/>
                <a:cs typeface="Pretendard Regular"/>
              </a:rPr>
              <a:t>일</a:t>
            </a:r>
            <a:endParaRPr lang="en-US" sz="3200" b="0" i="0" u="none" strike="noStrike" spc="-200" dirty="0">
              <a:solidFill>
                <a:srgbClr val="222222"/>
              </a:solidFill>
              <a:latin typeface="Pretendard Regular"/>
              <a:ea typeface="Pretendard Regular"/>
              <a:cs typeface="Pretendard Regula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21000"/>
          </a:blip>
          <a:stretch>
            <a:fillRect/>
          </a:stretch>
        </p:blipFill>
        <p:spPr>
          <a:xfrm rot="16200000">
            <a:off x="7124700" y="8928100"/>
            <a:ext cx="25260300" cy="10909300"/>
          </a:xfrm>
          <a:prstGeom prst="rect">
            <a:avLst/>
          </a:prstGeom>
          <a:effectLst>
            <a:outerShdw blurRad="1963406" dir="8100000">
              <a:srgbClr val="29292A">
                <a:alpha val="32000"/>
              </a:srgbClr>
            </a:outerShdw>
          </a:effectLst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7124700" y="8928100"/>
            <a:ext cx="25260300" cy="10909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alphaModFix amt="20000"/>
          </a:blip>
          <a:stretch>
            <a:fillRect/>
          </a:stretch>
        </p:blipFill>
        <p:spPr>
          <a:xfrm rot="20220000">
            <a:off x="7023100" y="9944100"/>
            <a:ext cx="6604000" cy="30734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06700" y="2476500"/>
            <a:ext cx="9372600" cy="10071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722600" y="3568700"/>
            <a:ext cx="6794500" cy="254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16357600" y="2997200"/>
            <a:ext cx="3962400" cy="482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800" b="0" i="0" u="none" strike="noStrike" dirty="0" err="1">
                <a:solidFill>
                  <a:srgbClr val="4E4E4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프로젝트</a:t>
            </a:r>
            <a:r>
              <a:rPr lang="en-US" sz="2800" b="0" i="0" u="none" strike="noStrike" dirty="0">
                <a:solidFill>
                  <a:srgbClr val="4E4E4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</a:t>
            </a:r>
            <a:r>
              <a:rPr lang="en-US" sz="2800" b="0" i="0" u="none" strike="noStrike" dirty="0" err="1">
                <a:solidFill>
                  <a:srgbClr val="4E4E4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배경</a:t>
            </a:r>
            <a:r>
              <a:rPr lang="en-US" sz="2800" b="0" i="0" u="none" strike="noStrike" dirty="0">
                <a:solidFill>
                  <a:srgbClr val="4E4E4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및 </a:t>
            </a:r>
            <a:r>
              <a:rPr lang="en-US" sz="2800" b="0" i="0" u="none" strike="noStrike" dirty="0" err="1">
                <a:solidFill>
                  <a:srgbClr val="4E4E4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필요성</a:t>
            </a:r>
            <a:endParaRPr lang="en-US" sz="2800" b="0" i="0" u="none" strike="noStrike" dirty="0">
              <a:solidFill>
                <a:srgbClr val="4E4E4E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5722600" y="3060700"/>
            <a:ext cx="838200" cy="355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866" b="0" i="0" u="none" strike="noStrike">
                <a:solidFill>
                  <a:srgbClr val="256BFF"/>
                </a:solidFill>
                <a:latin typeface="Prompt-Light"/>
                <a:ea typeface="Prompt-Light"/>
                <a:cs typeface="Prompt-Light"/>
              </a:rPr>
              <a:t>01</a:t>
            </a: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722600" y="4508500"/>
            <a:ext cx="6794500" cy="254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6357600" y="3949700"/>
            <a:ext cx="3962400" cy="482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800" b="0" i="0" u="none" strike="noStrike">
                <a:solidFill>
                  <a:srgbClr val="4E4E4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대상 사용자 및 기대 효과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722600" y="4013200"/>
            <a:ext cx="838200" cy="355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866" b="0" i="0" u="none" strike="noStrike">
                <a:solidFill>
                  <a:srgbClr val="256BFF"/>
                </a:solidFill>
                <a:latin typeface="Prompt-Light"/>
                <a:ea typeface="Prompt-Light"/>
                <a:cs typeface="Prompt-Light"/>
              </a:rPr>
              <a:t>02</a:t>
            </a: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722600" y="5461000"/>
            <a:ext cx="6794500" cy="254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16357600" y="4889500"/>
            <a:ext cx="3962400" cy="482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800" b="0" i="0" u="none" strike="noStrike">
                <a:solidFill>
                  <a:srgbClr val="4E4E4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기획 및 설계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5722600" y="4953000"/>
            <a:ext cx="838200" cy="355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866" b="0" i="0" u="none" strike="noStrike">
                <a:solidFill>
                  <a:srgbClr val="256BFF"/>
                </a:solidFill>
                <a:latin typeface="Prompt-Light"/>
                <a:ea typeface="Prompt-Light"/>
                <a:cs typeface="Prompt-Light"/>
              </a:rPr>
              <a:t>03</a:t>
            </a: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722600" y="6400800"/>
            <a:ext cx="6794500" cy="2540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16357600" y="7638472"/>
            <a:ext cx="3962400" cy="482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>
              <a:lnSpc>
                <a:spcPct val="116199"/>
              </a:lnSpc>
            </a:pPr>
            <a:r>
              <a:rPr lang="ko-KR" altLang="en-US" sz="2800" b="0" i="0" u="none" strike="noStrike" dirty="0">
                <a:solidFill>
                  <a:srgbClr val="4E4E4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프로젝트 결</a:t>
            </a:r>
            <a:r>
              <a:rPr lang="ko-KR" altLang="en-US" sz="2800" dirty="0">
                <a:solidFill>
                  <a:srgbClr val="4E4E4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과</a:t>
            </a:r>
            <a:r>
              <a:rPr lang="en-US" altLang="ko-KR" sz="2800" dirty="0">
                <a:solidFill>
                  <a:srgbClr val="4E4E4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1,2</a:t>
            </a:r>
            <a:endParaRPr lang="en-US" sz="2800" b="0" i="0" u="none" strike="noStrike" dirty="0">
              <a:solidFill>
                <a:srgbClr val="4E4E4E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5722600" y="5905500"/>
            <a:ext cx="838200" cy="355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866" b="0" i="0" u="none" strike="noStrike">
                <a:solidFill>
                  <a:srgbClr val="256BFF"/>
                </a:solidFill>
                <a:latin typeface="Prompt-Light"/>
                <a:ea typeface="Prompt-Light"/>
                <a:cs typeface="Prompt-Light"/>
              </a:rPr>
              <a:t>04</a:t>
            </a: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722600" y="7353300"/>
            <a:ext cx="6794500" cy="2540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16357600" y="8636577"/>
            <a:ext cx="3962400" cy="482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800" b="0" i="0" u="none" strike="noStrike" dirty="0" err="1">
                <a:solidFill>
                  <a:srgbClr val="4E4E4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시연</a:t>
            </a:r>
            <a:r>
              <a:rPr lang="en-US" sz="2800" b="0" i="0" u="none" strike="noStrike" dirty="0">
                <a:solidFill>
                  <a:srgbClr val="4E4E4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</a:t>
            </a:r>
            <a:r>
              <a:rPr lang="ko-KR" altLang="en-US" sz="2800" b="0" i="0" u="none" strike="noStrike" dirty="0">
                <a:solidFill>
                  <a:srgbClr val="4E4E4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결과</a:t>
            </a:r>
            <a:endParaRPr lang="en-US" sz="2800" b="0" i="0" u="none" strike="noStrike" dirty="0">
              <a:solidFill>
                <a:srgbClr val="4E4E4E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5722600" y="6858000"/>
            <a:ext cx="838200" cy="355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866" b="0" i="0" u="none" strike="noStrike">
                <a:solidFill>
                  <a:srgbClr val="256BFF"/>
                </a:solidFill>
                <a:latin typeface="Prompt-Light"/>
                <a:ea typeface="Prompt-Light"/>
                <a:cs typeface="Prompt-Light"/>
              </a:rPr>
              <a:t>05</a:t>
            </a: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722600" y="8293100"/>
            <a:ext cx="6794500" cy="25400"/>
          </a:xfrm>
          <a:prstGeom prst="rect">
            <a:avLst/>
          </a:prstGeom>
        </p:spPr>
      </p:pic>
      <p:sp>
        <p:nvSpPr>
          <p:cNvPr id="22" name="TextBox 22"/>
          <p:cNvSpPr txBox="1"/>
          <p:nvPr/>
        </p:nvSpPr>
        <p:spPr>
          <a:xfrm>
            <a:off x="16364527" y="12395200"/>
            <a:ext cx="3962400" cy="482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800" b="0" i="0" u="none" strike="noStrike" dirty="0">
                <a:solidFill>
                  <a:srgbClr val="4E4E4E"/>
                </a:solidFill>
                <a:latin typeface="Prompt-Medium"/>
                <a:ea typeface="Prompt-Medium"/>
                <a:cs typeface="Prompt-Medium"/>
              </a:rPr>
              <a:t>Q&amp;A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5722600" y="7797800"/>
            <a:ext cx="838200" cy="355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866" b="0" i="0" u="none" strike="noStrike">
                <a:solidFill>
                  <a:srgbClr val="256BFF"/>
                </a:solidFill>
                <a:latin typeface="Prompt-Light"/>
                <a:ea typeface="Prompt-Light"/>
                <a:cs typeface="Prompt-Light"/>
              </a:rPr>
              <a:t>06</a:t>
            </a: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722600" y="9245600"/>
            <a:ext cx="6794500" cy="25400"/>
          </a:xfrm>
          <a:prstGeom prst="rect">
            <a:avLst/>
          </a:prstGeom>
        </p:spPr>
      </p:pic>
      <p:sp>
        <p:nvSpPr>
          <p:cNvPr id="25" name="TextBox 25"/>
          <p:cNvSpPr txBox="1"/>
          <p:nvPr/>
        </p:nvSpPr>
        <p:spPr>
          <a:xfrm>
            <a:off x="16357600" y="10509827"/>
            <a:ext cx="3962400" cy="482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800" b="0" i="0" u="none" strike="noStrike" dirty="0" err="1">
                <a:solidFill>
                  <a:srgbClr val="4E4E4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협업</a:t>
            </a:r>
            <a:r>
              <a:rPr lang="en-US" sz="2800" b="0" i="0" u="none" strike="noStrike" dirty="0">
                <a:solidFill>
                  <a:srgbClr val="4E4E4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</a:t>
            </a:r>
            <a:r>
              <a:rPr lang="en-US" sz="2800" b="0" i="0" u="none" strike="noStrike" dirty="0" err="1">
                <a:solidFill>
                  <a:srgbClr val="4E4E4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과정</a:t>
            </a:r>
            <a:r>
              <a:rPr lang="en-US" sz="2800" b="0" i="0" u="none" strike="noStrike" dirty="0">
                <a:solidFill>
                  <a:srgbClr val="4E4E4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및 </a:t>
            </a:r>
            <a:r>
              <a:rPr lang="en-US" sz="2800" b="0" i="0" u="none" strike="noStrike" dirty="0" err="1">
                <a:solidFill>
                  <a:srgbClr val="4E4E4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팀워크</a:t>
            </a:r>
            <a:endParaRPr lang="en-US" sz="2800" b="0" i="0" u="none" strike="noStrike" dirty="0">
              <a:solidFill>
                <a:srgbClr val="4E4E4E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15722600" y="8750300"/>
            <a:ext cx="838200" cy="355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866" b="0" i="0" u="none" strike="noStrike">
                <a:solidFill>
                  <a:srgbClr val="256BFF"/>
                </a:solidFill>
                <a:latin typeface="Prompt-Light"/>
                <a:ea typeface="Prompt-Light"/>
                <a:cs typeface="Prompt-Light"/>
              </a:rPr>
              <a:t>07</a:t>
            </a:r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722600" y="10185400"/>
            <a:ext cx="6794500" cy="25400"/>
          </a:xfrm>
          <a:prstGeom prst="rect">
            <a:avLst/>
          </a:prstGeom>
        </p:spPr>
      </p:pic>
      <p:sp>
        <p:nvSpPr>
          <p:cNvPr id="28" name="TextBox 28"/>
          <p:cNvSpPr txBox="1"/>
          <p:nvPr/>
        </p:nvSpPr>
        <p:spPr>
          <a:xfrm>
            <a:off x="16308194" y="11480800"/>
            <a:ext cx="3962400" cy="482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800" b="0" i="0" u="none" strike="noStrike" dirty="0">
                <a:solidFill>
                  <a:srgbClr val="4E4E4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</a:t>
            </a:r>
            <a:r>
              <a:rPr lang="ko-KR" altLang="en-US" sz="2800" b="0" i="0" u="none" strike="noStrike" dirty="0">
                <a:solidFill>
                  <a:srgbClr val="4E4E4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마무리 및 </a:t>
            </a:r>
            <a:r>
              <a:rPr lang="en-US" sz="2800" b="0" i="0" u="none" strike="noStrike" dirty="0" err="1">
                <a:solidFill>
                  <a:srgbClr val="4E4E4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향후</a:t>
            </a:r>
            <a:r>
              <a:rPr lang="en-US" sz="2800" b="0" i="0" u="none" strike="noStrike" dirty="0">
                <a:solidFill>
                  <a:srgbClr val="4E4E4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</a:t>
            </a:r>
            <a:r>
              <a:rPr lang="en-US" sz="2800" b="0" i="0" u="none" strike="noStrike" dirty="0" err="1">
                <a:solidFill>
                  <a:srgbClr val="4E4E4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개선</a:t>
            </a:r>
            <a:r>
              <a:rPr lang="en-US" sz="2800" b="0" i="0" u="none" strike="noStrike" dirty="0">
                <a:solidFill>
                  <a:srgbClr val="4E4E4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</a:t>
            </a:r>
            <a:r>
              <a:rPr lang="en-US" sz="2800" b="0" i="0" u="none" strike="noStrike" dirty="0" err="1">
                <a:solidFill>
                  <a:srgbClr val="4E4E4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방향</a:t>
            </a:r>
            <a:endParaRPr lang="en-US" sz="2800" b="0" i="0" u="none" strike="noStrike" dirty="0">
              <a:solidFill>
                <a:srgbClr val="4E4E4E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15722600" y="9690100"/>
            <a:ext cx="838200" cy="355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866" b="0" i="0" u="none" strike="noStrike">
                <a:solidFill>
                  <a:srgbClr val="256BFF"/>
                </a:solidFill>
                <a:latin typeface="Prompt-Light"/>
                <a:ea typeface="Prompt-Light"/>
                <a:cs typeface="Prompt-Light"/>
              </a:rPr>
              <a:t>08</a:t>
            </a:r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722600" y="11137900"/>
            <a:ext cx="6794500" cy="25400"/>
          </a:xfrm>
          <a:prstGeom prst="rect">
            <a:avLst/>
          </a:prstGeom>
        </p:spPr>
      </p:pic>
      <p:sp>
        <p:nvSpPr>
          <p:cNvPr id="31" name="TextBox 31"/>
          <p:cNvSpPr txBox="1"/>
          <p:nvPr/>
        </p:nvSpPr>
        <p:spPr>
          <a:xfrm>
            <a:off x="16357600" y="5803900"/>
            <a:ext cx="3962400" cy="482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altLang="en-US" sz="2800" dirty="0">
                <a:solidFill>
                  <a:srgbClr val="4E4E4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초기 화면 구조도</a:t>
            </a:r>
            <a:r>
              <a:rPr lang="en-US" altLang="ko-KR" sz="2800" dirty="0">
                <a:solidFill>
                  <a:srgbClr val="4E4E4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(1),(2)</a:t>
            </a:r>
            <a:endParaRPr lang="en-US" sz="2800" b="0" i="0" u="none" strike="noStrike" dirty="0">
              <a:solidFill>
                <a:srgbClr val="4E4E4E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15722600" y="10642600"/>
            <a:ext cx="838200" cy="355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866" b="0" i="0" u="none" strike="noStrike">
                <a:solidFill>
                  <a:srgbClr val="256BFF"/>
                </a:solidFill>
                <a:latin typeface="Prompt-Light"/>
                <a:ea typeface="Prompt-Light"/>
                <a:cs typeface="Prompt-Light"/>
              </a:rPr>
              <a:t>09</a:t>
            </a:r>
          </a:p>
        </p:txBody>
      </p:sp>
      <p:pic>
        <p:nvPicPr>
          <p:cNvPr id="33" name="Picture 3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722600" y="12090400"/>
            <a:ext cx="6794500" cy="25400"/>
          </a:xfrm>
          <a:prstGeom prst="rect">
            <a:avLst/>
          </a:prstGeom>
        </p:spPr>
      </p:pic>
      <p:sp>
        <p:nvSpPr>
          <p:cNvPr id="34" name="TextBox 34"/>
          <p:cNvSpPr txBox="1"/>
          <p:nvPr/>
        </p:nvSpPr>
        <p:spPr>
          <a:xfrm>
            <a:off x="16357600" y="6718300"/>
            <a:ext cx="3962400" cy="482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altLang="en-US" sz="2800" b="0" i="0" u="none" strike="noStrike" dirty="0">
                <a:solidFill>
                  <a:srgbClr val="4E4E4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개발과정</a:t>
            </a:r>
            <a:r>
              <a:rPr lang="en-US" altLang="ko-KR" sz="2800" b="0" i="0" u="none" strike="noStrike" dirty="0">
                <a:solidFill>
                  <a:srgbClr val="4E4E4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(1),(2)</a:t>
            </a:r>
            <a:endParaRPr lang="en-US" sz="2800" b="0" i="0" u="none" strike="noStrike" dirty="0">
              <a:solidFill>
                <a:srgbClr val="4E4E4E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15722600" y="11582400"/>
            <a:ext cx="838200" cy="355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866" b="0" i="0" u="none" strike="noStrike">
                <a:solidFill>
                  <a:srgbClr val="256BFF"/>
                </a:solidFill>
                <a:latin typeface="Prompt-Light"/>
                <a:ea typeface="Prompt-Light"/>
                <a:cs typeface="Prompt-Light"/>
              </a:rPr>
              <a:t>10</a:t>
            </a:r>
          </a:p>
        </p:txBody>
      </p:sp>
      <p:pic>
        <p:nvPicPr>
          <p:cNvPr id="36" name="Picture 3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722600" y="13030200"/>
            <a:ext cx="6794500" cy="25400"/>
          </a:xfrm>
          <a:prstGeom prst="rect">
            <a:avLst/>
          </a:prstGeom>
        </p:spPr>
      </p:pic>
      <p:sp>
        <p:nvSpPr>
          <p:cNvPr id="37" name="TextBox 37"/>
          <p:cNvSpPr txBox="1"/>
          <p:nvPr/>
        </p:nvSpPr>
        <p:spPr>
          <a:xfrm>
            <a:off x="16357600" y="9585036"/>
            <a:ext cx="3962400" cy="482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altLang="en-US" sz="2800" b="0" i="0" u="none" strike="noStrike" dirty="0">
                <a:solidFill>
                  <a:srgbClr val="4E4E4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시연 </a:t>
            </a:r>
            <a:r>
              <a:rPr lang="ko-KR" altLang="en-US" sz="2800" dirty="0">
                <a:solidFill>
                  <a:srgbClr val="4E4E4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영상</a:t>
            </a:r>
            <a:endParaRPr lang="en-US" sz="2800" b="0" i="0" u="none" strike="noStrike" dirty="0">
              <a:solidFill>
                <a:srgbClr val="4E4E4E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8" name="TextBox 38"/>
          <p:cNvSpPr txBox="1"/>
          <p:nvPr/>
        </p:nvSpPr>
        <p:spPr>
          <a:xfrm>
            <a:off x="15722600" y="12534900"/>
            <a:ext cx="838200" cy="355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866" b="0" i="0" u="none" strike="noStrike">
                <a:solidFill>
                  <a:srgbClr val="256BFF"/>
                </a:solidFill>
                <a:latin typeface="Prompt-Light"/>
                <a:ea typeface="Prompt-Light"/>
                <a:cs typeface="Prompt-Light"/>
              </a:rPr>
              <a:t>11</a:t>
            </a:r>
          </a:p>
        </p:txBody>
      </p:sp>
      <p:pic>
        <p:nvPicPr>
          <p:cNvPr id="39" name="Picture 3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0800000">
            <a:off x="15595600" y="1587500"/>
            <a:ext cx="4152900" cy="952500"/>
          </a:xfrm>
          <a:prstGeom prst="rect">
            <a:avLst/>
          </a:prstGeom>
        </p:spPr>
      </p:pic>
      <p:pic>
        <p:nvPicPr>
          <p:cNvPr id="40" name="Picture 4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10800000">
            <a:off x="15417800" y="1562100"/>
            <a:ext cx="3835400" cy="1003300"/>
          </a:xfrm>
          <a:prstGeom prst="rect">
            <a:avLst/>
          </a:prstGeom>
        </p:spPr>
      </p:pic>
      <p:sp>
        <p:nvSpPr>
          <p:cNvPr id="41" name="TextBox 41"/>
          <p:cNvSpPr txBox="1"/>
          <p:nvPr/>
        </p:nvSpPr>
        <p:spPr>
          <a:xfrm>
            <a:off x="15735300" y="1816100"/>
            <a:ext cx="3302000" cy="508000"/>
          </a:xfrm>
          <a:prstGeom prst="rect">
            <a:avLst/>
          </a:prstGeom>
        </p:spPr>
        <p:txBody>
          <a:bodyPr lIns="0" tIns="32173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2533" b="0" i="0" u="none" strike="noStrike">
                <a:solidFill>
                  <a:srgbClr val="FFFFFF"/>
                </a:solidFill>
                <a:latin typeface="Prompt-Regular"/>
                <a:ea typeface="Prompt-Regular"/>
                <a:cs typeface="Prompt-Regular"/>
              </a:rPr>
              <a:t>Contents List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181100" y="863600"/>
            <a:ext cx="3454400" cy="952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6000" b="0" i="0" u="none" strike="noStrike" dirty="0" err="1">
                <a:solidFill>
                  <a:srgbClr val="4E4E4E"/>
                </a:solidFill>
                <a:latin typeface="Pretendard Bold"/>
                <a:ea typeface="Pretendard Bold"/>
                <a:cs typeface="Pretendard Bold"/>
              </a:rPr>
              <a:t>목차</a:t>
            </a:r>
            <a:endParaRPr lang="en-US" sz="6000" b="0" i="0" u="none" strike="noStrike" dirty="0">
              <a:solidFill>
                <a:srgbClr val="4E4E4E"/>
              </a:solidFill>
              <a:latin typeface="Pretendard Bold"/>
              <a:ea typeface="Pretendard Bold"/>
              <a:cs typeface="Pretendard 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DA4D32-2B1B-F61D-28DD-87819B6DB9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그룹 18">
            <a:extLst>
              <a:ext uri="{FF2B5EF4-FFF2-40B4-BE49-F238E27FC236}">
                <a16:creationId xmlns:a16="http://schemas.microsoft.com/office/drawing/2014/main" id="{59E2C4EB-8107-70B1-C403-11EFDEAB5C5A}"/>
              </a:ext>
            </a:extLst>
          </p:cNvPr>
          <p:cNvGrpSpPr/>
          <p:nvPr/>
        </p:nvGrpSpPr>
        <p:grpSpPr>
          <a:xfrm>
            <a:off x="1562100" y="9144000"/>
            <a:ext cx="6807200" cy="3568700"/>
            <a:chOff x="1562100" y="9144000"/>
            <a:chExt cx="6807200" cy="3568700"/>
          </a:xfrm>
        </p:grpSpPr>
        <p:pic>
          <p:nvPicPr>
            <p:cNvPr id="7" name="Picture 7">
              <a:extLst>
                <a:ext uri="{FF2B5EF4-FFF2-40B4-BE49-F238E27FC236}">
                  <a16:creationId xmlns:a16="http://schemas.microsoft.com/office/drawing/2014/main" id="{8B307CD4-1528-B4CB-F668-2327E7F34DF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362200" y="10020300"/>
              <a:ext cx="6007100" cy="2692400"/>
            </a:xfrm>
            <a:prstGeom prst="rect">
              <a:avLst/>
            </a:prstGeom>
            <a:effectLst>
              <a:outerShdw blurRad="121314" dist="20737" dir="2700000">
                <a:srgbClr val="256BFF">
                  <a:alpha val="30000"/>
                </a:srgbClr>
              </a:outerShdw>
            </a:effectLst>
          </p:spPr>
        </p:pic>
        <p:pic>
          <p:nvPicPr>
            <p:cNvPr id="8" name="Picture 8">
              <a:extLst>
                <a:ext uri="{FF2B5EF4-FFF2-40B4-BE49-F238E27FC236}">
                  <a16:creationId xmlns:a16="http://schemas.microsoft.com/office/drawing/2014/main" id="{CA779201-BB38-0EE6-6D98-7F22313B7DB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90000"/>
            </a:blip>
            <a:stretch>
              <a:fillRect/>
            </a:stretch>
          </p:blipFill>
          <p:spPr>
            <a:xfrm>
              <a:off x="4914900" y="9512300"/>
              <a:ext cx="901700" cy="901700"/>
            </a:xfrm>
            <a:prstGeom prst="rect">
              <a:avLst/>
            </a:prstGeom>
            <a:effectLst>
              <a:outerShdw blurRad="40452" dist="6915" dir="2700000">
                <a:srgbClr val="256BFF">
                  <a:alpha val="15000"/>
                </a:srgbClr>
              </a:outerShdw>
            </a:effectLst>
          </p:spPr>
        </p:pic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3888E180-24EB-AE5F-A89F-574D6331D1FF}"/>
                </a:ext>
              </a:extLst>
            </p:cNvPr>
            <p:cNvSpPr txBox="1"/>
            <p:nvPr/>
          </p:nvSpPr>
          <p:spPr>
            <a:xfrm>
              <a:off x="4953000" y="9652000"/>
              <a:ext cx="825500" cy="6096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ctr">
                <a:lnSpc>
                  <a:spcPct val="116199"/>
                </a:lnSpc>
              </a:pPr>
              <a:r>
                <a:rPr lang="en-US" sz="3137" b="0" i="0" u="none" strike="noStrike" dirty="0">
                  <a:solidFill>
                    <a:srgbClr val="256BFF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01</a:t>
              </a:r>
            </a:p>
          </p:txBody>
        </p:sp>
        <p:pic>
          <p:nvPicPr>
            <p:cNvPr id="17" name="Picture 17">
              <a:extLst>
                <a:ext uri="{FF2B5EF4-FFF2-40B4-BE49-F238E27FC236}">
                  <a16:creationId xmlns:a16="http://schemas.microsoft.com/office/drawing/2014/main" id="{BBF78BA5-0064-FE3A-BB2B-B81A4715168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562100" y="9144000"/>
              <a:ext cx="1612900" cy="1828800"/>
            </a:xfrm>
            <a:prstGeom prst="rect">
              <a:avLst/>
            </a:prstGeom>
          </p:spPr>
        </p:pic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7B06BE60-9D3C-6C90-976B-05C5E8A81C00}"/>
              </a:ext>
            </a:extLst>
          </p:cNvPr>
          <p:cNvGrpSpPr/>
          <p:nvPr/>
        </p:nvGrpSpPr>
        <p:grpSpPr>
          <a:xfrm>
            <a:off x="15354300" y="9563100"/>
            <a:ext cx="6604000" cy="3200400"/>
            <a:chOff x="15354300" y="9563100"/>
            <a:chExt cx="6604000" cy="3200400"/>
          </a:xfrm>
        </p:grpSpPr>
        <p:pic>
          <p:nvPicPr>
            <p:cNvPr id="11" name="Picture 11">
              <a:extLst>
                <a:ext uri="{FF2B5EF4-FFF2-40B4-BE49-F238E27FC236}">
                  <a16:creationId xmlns:a16="http://schemas.microsoft.com/office/drawing/2014/main" id="{157DB8D4-DCE2-FDFF-2E94-4FFC66703BC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5951200" y="10058400"/>
              <a:ext cx="6007100" cy="2705100"/>
            </a:xfrm>
            <a:prstGeom prst="rect">
              <a:avLst/>
            </a:prstGeom>
            <a:effectLst>
              <a:outerShdw blurRad="121586" dist="20784" dir="2700000">
                <a:srgbClr val="256BFF">
                  <a:alpha val="30000"/>
                </a:srgbClr>
              </a:outerShdw>
            </a:effectLst>
          </p:spPr>
        </p:pic>
        <p:pic>
          <p:nvPicPr>
            <p:cNvPr id="12" name="Picture 12">
              <a:extLst>
                <a:ext uri="{FF2B5EF4-FFF2-40B4-BE49-F238E27FC236}">
                  <a16:creationId xmlns:a16="http://schemas.microsoft.com/office/drawing/2014/main" id="{3D2CCBC9-2203-B5D0-FC86-C9606D5A5BA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alphaModFix amt="90000"/>
            </a:blip>
            <a:stretch>
              <a:fillRect/>
            </a:stretch>
          </p:blipFill>
          <p:spPr>
            <a:xfrm>
              <a:off x="18503900" y="9563100"/>
              <a:ext cx="901700" cy="901700"/>
            </a:xfrm>
            <a:prstGeom prst="rect">
              <a:avLst/>
            </a:prstGeom>
            <a:effectLst>
              <a:outerShdw blurRad="40452" dist="6915" dir="2700000">
                <a:srgbClr val="256BFF">
                  <a:alpha val="15000"/>
                </a:srgbClr>
              </a:outerShdw>
            </a:effectLst>
          </p:spPr>
        </p:pic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54E9812E-14F0-29EE-A60F-968AE587B2F7}"/>
                </a:ext>
              </a:extLst>
            </p:cNvPr>
            <p:cNvSpPr txBox="1"/>
            <p:nvPr/>
          </p:nvSpPr>
          <p:spPr>
            <a:xfrm>
              <a:off x="18542000" y="9690100"/>
              <a:ext cx="825500" cy="6096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ctr">
                <a:lnSpc>
                  <a:spcPct val="116199"/>
                </a:lnSpc>
              </a:pPr>
              <a:r>
                <a:rPr lang="en-US" sz="3137" b="0" i="0" u="none" strike="noStrike" dirty="0">
                  <a:solidFill>
                    <a:srgbClr val="256BFF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02</a:t>
              </a:r>
            </a:p>
          </p:txBody>
        </p:sp>
        <p:pic>
          <p:nvPicPr>
            <p:cNvPr id="18" name="Picture 18">
              <a:extLst>
                <a:ext uri="{FF2B5EF4-FFF2-40B4-BE49-F238E27FC236}">
                  <a16:creationId xmlns:a16="http://schemas.microsoft.com/office/drawing/2014/main" id="{40B46BBC-8B3E-E8CB-C2AE-AA5542E8B9F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5354300" y="9715500"/>
              <a:ext cx="1905000" cy="1257300"/>
            </a:xfrm>
            <a:prstGeom prst="rect">
              <a:avLst/>
            </a:prstGeom>
          </p:spPr>
        </p:pic>
      </p:grpSp>
      <p:pic>
        <p:nvPicPr>
          <p:cNvPr id="2" name="Picture 2">
            <a:extLst>
              <a:ext uri="{FF2B5EF4-FFF2-40B4-BE49-F238E27FC236}">
                <a16:creationId xmlns:a16="http://schemas.microsoft.com/office/drawing/2014/main" id="{14E2DB5E-0F08-D96C-E2DC-EA02CF07BB4D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80000"/>
          </a:blip>
          <a:stretch>
            <a:fillRect/>
          </a:stretch>
        </p:blipFill>
        <p:spPr>
          <a:xfrm>
            <a:off x="-1320800" y="2730500"/>
            <a:ext cx="27025600" cy="4775200"/>
          </a:xfrm>
          <a:prstGeom prst="rect">
            <a:avLst/>
          </a:prstGeom>
          <a:effectLst>
            <a:outerShdw blurRad="214884" dist="36732" dir="2700000">
              <a:srgbClr val="256BFF">
                <a:alpha val="15000"/>
              </a:srgbClr>
            </a:outerShdw>
          </a:effectLst>
        </p:spPr>
      </p:pic>
      <p:sp>
        <p:nvSpPr>
          <p:cNvPr id="3" name="TextBox 3">
            <a:extLst>
              <a:ext uri="{FF2B5EF4-FFF2-40B4-BE49-F238E27FC236}">
                <a16:creationId xmlns:a16="http://schemas.microsoft.com/office/drawing/2014/main" id="{82DBE654-8FB0-786D-794E-1B4354972D95}"/>
              </a:ext>
            </a:extLst>
          </p:cNvPr>
          <p:cNvSpPr txBox="1"/>
          <p:nvPr/>
        </p:nvSpPr>
        <p:spPr>
          <a:xfrm>
            <a:off x="6477000" y="5473700"/>
            <a:ext cx="12623800" cy="1117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스마트폰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하나로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벽 속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전선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경로를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실시간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추적하고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전문가급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수평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정밀도를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구현하여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누구나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안전하고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완벽한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셀프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인테리어를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가능하게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합니다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.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5EC4A87-C74D-60EE-0B08-E29E0AFACE26}"/>
              </a:ext>
            </a:extLst>
          </p:cNvPr>
          <p:cNvSpPr txBox="1"/>
          <p:nvPr/>
        </p:nvSpPr>
        <p:spPr>
          <a:xfrm>
            <a:off x="9969500" y="3479800"/>
            <a:ext cx="4445000" cy="647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3200" b="0" i="0" u="none" strike="noStrike" dirty="0">
                <a:solidFill>
                  <a:srgbClr val="256B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Core Solution</a:t>
            </a:r>
          </a:p>
        </p:txBody>
      </p:sp>
      <p:pic>
        <p:nvPicPr>
          <p:cNvPr id="5" name="Picture 5">
            <a:extLst>
              <a:ext uri="{FF2B5EF4-FFF2-40B4-BE49-F238E27FC236}">
                <a16:creationId xmlns:a16="http://schemas.microsoft.com/office/drawing/2014/main" id="{B17C8ED3-A923-5DA7-182D-4178F365CF2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734800" y="2273300"/>
            <a:ext cx="914400" cy="914400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F8340E7B-677E-B9F3-DE70-B6C88454AA5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34000" y="7810500"/>
            <a:ext cx="13703300" cy="1435100"/>
          </a:xfrm>
          <a:prstGeom prst="rect">
            <a:avLst/>
          </a:prstGeom>
        </p:spPr>
      </p:pic>
      <p:sp>
        <p:nvSpPr>
          <p:cNvPr id="10" name="TextBox 10">
            <a:extLst>
              <a:ext uri="{FF2B5EF4-FFF2-40B4-BE49-F238E27FC236}">
                <a16:creationId xmlns:a16="http://schemas.microsoft.com/office/drawing/2014/main" id="{E5EFCD10-CBD0-199F-E86C-3836503BDBEE}"/>
              </a:ext>
            </a:extLst>
          </p:cNvPr>
          <p:cNvSpPr txBox="1"/>
          <p:nvPr/>
        </p:nvSpPr>
        <p:spPr>
          <a:xfrm>
            <a:off x="2368550" y="11099800"/>
            <a:ext cx="6007100" cy="622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3466" b="0" i="0" u="none" strike="noStrike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[</a:t>
            </a:r>
            <a:r>
              <a:rPr lang="en-US" altLang="ko-KR" sz="3466" dirty="0" err="1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ARCore</a:t>
            </a:r>
            <a:r>
              <a:rPr lang="en-US" altLang="ko-KR" sz="3466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3466" b="0" i="0" u="none" strike="noStrike" dirty="0" err="1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카메라</a:t>
            </a:r>
            <a:r>
              <a:rPr lang="en-US" sz="3466" b="0" i="0" u="none" strike="noStrike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3466" b="0" i="0" u="none" strike="noStrike" dirty="0" err="1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기반</a:t>
            </a:r>
            <a:r>
              <a:rPr lang="en-US" sz="3466" b="0" i="0" u="none" strike="noStrike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3466" b="0" i="0" u="none" strike="noStrike" dirty="0" err="1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전선</a:t>
            </a:r>
            <a:r>
              <a:rPr lang="en-US" sz="3466" b="0" i="0" u="none" strike="noStrike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3466" b="0" i="0" u="none" strike="noStrike" dirty="0" err="1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탐지</a:t>
            </a:r>
            <a:r>
              <a:rPr lang="en-US" sz="3466" b="0" i="0" u="none" strike="noStrike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 ]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3572EFF3-9965-5092-969F-F29D7E468E6E}"/>
              </a:ext>
            </a:extLst>
          </p:cNvPr>
          <p:cNvSpPr txBox="1"/>
          <p:nvPr/>
        </p:nvSpPr>
        <p:spPr>
          <a:xfrm>
            <a:off x="15875000" y="11099800"/>
            <a:ext cx="6146800" cy="622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3466" b="0" i="0" u="none" strike="noStrike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[  0.1° </a:t>
            </a:r>
            <a:r>
              <a:rPr lang="en-US" sz="3466" b="0" i="0" u="none" strike="noStrike" dirty="0" err="1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단위</a:t>
            </a:r>
            <a:r>
              <a:rPr lang="en-US" sz="3466" b="0" i="0" u="none" strike="noStrike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3466" b="0" i="0" u="none" strike="noStrike" dirty="0" err="1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정밀</a:t>
            </a:r>
            <a:r>
              <a:rPr lang="en-US" sz="3466" b="0" i="0" u="none" strike="noStrike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3466" b="0" i="0" u="none" strike="noStrike" dirty="0" err="1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디지털</a:t>
            </a:r>
            <a:r>
              <a:rPr lang="en-US" sz="3466" b="0" i="0" u="none" strike="noStrike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3466" b="0" i="0" u="none" strike="noStrike" dirty="0" err="1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수평계</a:t>
            </a:r>
            <a:r>
              <a:rPr lang="en-US" sz="3466" b="0" i="0" u="none" strike="noStrike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 ]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AB968424-9690-7EB3-D0C7-654EA57003BB}"/>
              </a:ext>
            </a:extLst>
          </p:cNvPr>
          <p:cNvSpPr txBox="1"/>
          <p:nvPr/>
        </p:nvSpPr>
        <p:spPr>
          <a:xfrm>
            <a:off x="850900" y="737755"/>
            <a:ext cx="7518400" cy="850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5500" b="0" i="0" u="none" strike="noStrike" dirty="0" err="1">
                <a:solidFill>
                  <a:srgbClr val="4E4E4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프로젝트</a:t>
            </a:r>
            <a:r>
              <a:rPr lang="en-US" sz="5500" b="0" i="0" u="none" strike="noStrike" dirty="0">
                <a:solidFill>
                  <a:srgbClr val="4E4E4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</a:t>
            </a:r>
            <a:r>
              <a:rPr lang="en-US" sz="5500" b="0" i="0" u="none" strike="noStrike" dirty="0" err="1">
                <a:solidFill>
                  <a:srgbClr val="4E4E4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배경</a:t>
            </a:r>
            <a:r>
              <a:rPr lang="en-US" sz="5500" b="0" i="0" u="none" strike="noStrike" dirty="0">
                <a:solidFill>
                  <a:srgbClr val="4E4E4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및 </a:t>
            </a:r>
            <a:r>
              <a:rPr lang="en-US" sz="5500" b="0" i="0" u="none" strike="noStrike" dirty="0" err="1">
                <a:solidFill>
                  <a:srgbClr val="4E4E4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필요성</a:t>
            </a:r>
            <a:endParaRPr lang="en-US" sz="5500" b="0" i="0" u="none" strike="noStrike" dirty="0">
              <a:solidFill>
                <a:srgbClr val="4E4E4E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6928B7C3-E7A6-F989-B0C0-43CD25844A7D}"/>
              </a:ext>
            </a:extLst>
          </p:cNvPr>
          <p:cNvSpPr txBox="1"/>
          <p:nvPr/>
        </p:nvSpPr>
        <p:spPr>
          <a:xfrm>
            <a:off x="3708400" y="4445000"/>
            <a:ext cx="17868900" cy="685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3857" b="0" i="0" u="none" strike="noStrike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"</a:t>
            </a:r>
            <a:r>
              <a:rPr lang="en-US" sz="3857" b="0" i="0" u="none" strike="noStrike" dirty="0" err="1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보이지</a:t>
            </a:r>
            <a:r>
              <a:rPr lang="en-US" sz="3857" b="0" i="0" u="none" strike="noStrike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3857" b="0" i="0" u="none" strike="noStrike" dirty="0" err="1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않는</a:t>
            </a:r>
            <a:r>
              <a:rPr lang="en-US" sz="3857" b="0" i="0" u="none" strike="noStrike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3857" b="0" i="0" u="none" strike="noStrike" dirty="0" err="1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위험의</a:t>
            </a:r>
            <a:r>
              <a:rPr lang="en-US" sz="3857" b="0" i="0" u="none" strike="noStrike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3857" b="0" i="0" u="none" strike="noStrike" dirty="0" err="1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시각화와</a:t>
            </a:r>
            <a:r>
              <a:rPr lang="en-US" sz="3857" b="0" i="0" u="none" strike="noStrike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0.1도의 </a:t>
            </a:r>
            <a:r>
              <a:rPr lang="en-US" sz="3857" b="0" i="0" u="none" strike="noStrike" dirty="0" err="1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정밀함</a:t>
            </a:r>
            <a:r>
              <a:rPr lang="en-US" sz="3857" b="0" i="0" u="none" strike="noStrike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en-US" sz="3857" b="0" i="0" u="none" strike="noStrike" dirty="0" err="1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스마트폰</a:t>
            </a:r>
            <a:r>
              <a:rPr lang="en-US" sz="3857" b="0" i="0" u="none" strike="noStrike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3857" b="0" i="0" u="none" strike="noStrike" dirty="0" err="1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센서로</a:t>
            </a:r>
            <a:r>
              <a:rPr lang="en-US" sz="3857" b="0" i="0" u="none" strike="noStrike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3857" b="0" i="0" u="none" strike="noStrike" dirty="0" err="1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구현하는</a:t>
            </a:r>
            <a:r>
              <a:rPr lang="en-US" sz="3857" b="0" i="0" u="none" strike="noStrike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3857" b="0" i="0" u="none" strike="noStrike" dirty="0" err="1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스마트</a:t>
            </a:r>
            <a:r>
              <a:rPr lang="en-US" sz="3857" b="0" i="0" u="none" strike="noStrike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3857" b="0" i="0" u="none" strike="noStrike" dirty="0" err="1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시공</a:t>
            </a:r>
            <a:r>
              <a:rPr lang="en-US" sz="3857" b="0" i="0" u="none" strike="noStrike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3857" b="0" i="0" u="none" strike="noStrike" dirty="0" err="1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가이드</a:t>
            </a:r>
            <a:r>
              <a:rPr lang="en-US" sz="3857" b="0" i="0" u="none" strike="noStrike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"</a:t>
            </a:r>
          </a:p>
        </p:txBody>
      </p:sp>
    </p:spTree>
    <p:extLst>
      <p:ext uri="{BB962C8B-B14F-4D97-AF65-F5344CB8AC3E}">
        <p14:creationId xmlns:p14="http://schemas.microsoft.com/office/powerpoint/2010/main" val="15141817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132213-6E6E-2DC1-13E2-84368935EA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">
            <a:extLst>
              <a:ext uri="{FF2B5EF4-FFF2-40B4-BE49-F238E27FC236}">
                <a16:creationId xmlns:a16="http://schemas.microsoft.com/office/drawing/2014/main" id="{2FF7827C-6605-D6CA-0D23-CD6FFB3869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876300"/>
            <a:ext cx="22491700" cy="11950700"/>
          </a:xfrm>
          <a:prstGeom prst="rect">
            <a:avLst/>
          </a:prstGeom>
          <a:effectLst>
            <a:outerShdw blurRad="597747" dir="4080000">
              <a:srgbClr val="8FD0FE">
                <a:alpha val="30000"/>
              </a:srgbClr>
            </a:outerShdw>
          </a:effectLst>
        </p:spPr>
      </p:pic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1EAB3DA4-0E7D-A730-B81B-17ABFBAE2E67}"/>
              </a:ext>
            </a:extLst>
          </p:cNvPr>
          <p:cNvSpPr/>
          <p:nvPr/>
        </p:nvSpPr>
        <p:spPr>
          <a:xfrm>
            <a:off x="1355725" y="2451100"/>
            <a:ext cx="21672550" cy="973455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softEdge rad="635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D0BF1FBC-3879-7BEA-5857-EAE8AF8C1751}"/>
              </a:ext>
            </a:extLst>
          </p:cNvPr>
          <p:cNvSpPr txBox="1"/>
          <p:nvPr/>
        </p:nvSpPr>
        <p:spPr>
          <a:xfrm>
            <a:off x="1681261" y="1323269"/>
            <a:ext cx="7518400" cy="850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altLang="en-US" sz="5500" b="0" i="0" u="none" strike="noStrike" dirty="0">
                <a:solidFill>
                  <a:srgbClr val="4E4E4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대상 사용자 및 기대효과</a:t>
            </a:r>
            <a:endParaRPr lang="en-US" sz="5500" b="0" i="0" u="none" strike="noStrike" dirty="0">
              <a:solidFill>
                <a:srgbClr val="4E4E4E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CF8FDAD5-14BC-0AD6-80B4-EE525CC230D2}"/>
              </a:ext>
            </a:extLst>
          </p:cNvPr>
          <p:cNvGrpSpPr/>
          <p:nvPr/>
        </p:nvGrpSpPr>
        <p:grpSpPr>
          <a:xfrm>
            <a:off x="2596267" y="3820693"/>
            <a:ext cx="7172358" cy="3012924"/>
            <a:chOff x="1876429" y="10020300"/>
            <a:chExt cx="6492871" cy="2692400"/>
          </a:xfrm>
        </p:grpSpPr>
        <p:pic>
          <p:nvPicPr>
            <p:cNvPr id="26" name="Picture 7">
              <a:extLst>
                <a:ext uri="{FF2B5EF4-FFF2-40B4-BE49-F238E27FC236}">
                  <a16:creationId xmlns:a16="http://schemas.microsoft.com/office/drawing/2014/main" id="{A990FE4D-6815-E835-E164-762C239FBE2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362200" y="10020300"/>
              <a:ext cx="6007100" cy="2692400"/>
            </a:xfrm>
            <a:prstGeom prst="rect">
              <a:avLst/>
            </a:prstGeom>
            <a:effectLst>
              <a:outerShdw blurRad="121314" dist="20737" dir="2700000">
                <a:srgbClr val="256BFF">
                  <a:alpha val="30000"/>
                </a:srgbClr>
              </a:outerShdw>
            </a:effectLst>
          </p:spPr>
        </p:pic>
        <p:pic>
          <p:nvPicPr>
            <p:cNvPr id="27" name="Picture 8">
              <a:extLst>
                <a:ext uri="{FF2B5EF4-FFF2-40B4-BE49-F238E27FC236}">
                  <a16:creationId xmlns:a16="http://schemas.microsoft.com/office/drawing/2014/main" id="{E46A1792-FF03-DF5F-FFE5-04A1E6B4A1F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 amt="90000"/>
            </a:blip>
            <a:stretch>
              <a:fillRect/>
            </a:stretch>
          </p:blipFill>
          <p:spPr>
            <a:xfrm>
              <a:off x="1876429" y="10866731"/>
              <a:ext cx="901700" cy="901700"/>
            </a:xfrm>
            <a:prstGeom prst="rect">
              <a:avLst/>
            </a:prstGeom>
            <a:effectLst>
              <a:outerShdw blurRad="40452" dist="6915" dir="2700000">
                <a:srgbClr val="256BFF">
                  <a:alpha val="15000"/>
                </a:srgbClr>
              </a:outerShdw>
            </a:effectLst>
          </p:spPr>
        </p:pic>
      </p:grpSp>
      <p:sp>
        <p:nvSpPr>
          <p:cNvPr id="32" name="TextBox 4">
            <a:extLst>
              <a:ext uri="{FF2B5EF4-FFF2-40B4-BE49-F238E27FC236}">
                <a16:creationId xmlns:a16="http://schemas.microsoft.com/office/drawing/2014/main" id="{5A5FCD66-F245-68AA-FF3A-1B4F0BA04551}"/>
              </a:ext>
            </a:extLst>
          </p:cNvPr>
          <p:cNvSpPr txBox="1"/>
          <p:nvPr/>
        </p:nvSpPr>
        <p:spPr>
          <a:xfrm>
            <a:off x="3669480" y="4812061"/>
            <a:ext cx="5562537" cy="1009045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altLang="en-US" sz="4500" b="1" i="0" u="none" strike="noStrike" dirty="0">
                <a:solidFill>
                  <a:schemeClr val="bg1">
                    <a:lumMod val="9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홈 인테리어 </a:t>
            </a:r>
            <a:r>
              <a:rPr lang="ko-KR" altLang="en-US" sz="4500" b="1" i="0" u="none" strike="noStrike" dirty="0" err="1">
                <a:solidFill>
                  <a:schemeClr val="bg1">
                    <a:lumMod val="9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입문자</a:t>
            </a:r>
            <a:endParaRPr lang="en-US" sz="4500" b="1" i="0" u="none" strike="noStrike" dirty="0">
              <a:solidFill>
                <a:schemeClr val="bg1">
                  <a:lumMod val="9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6285EE30-8206-38C3-017A-99DE2210F382}"/>
              </a:ext>
            </a:extLst>
          </p:cNvPr>
          <p:cNvGrpSpPr/>
          <p:nvPr/>
        </p:nvGrpSpPr>
        <p:grpSpPr>
          <a:xfrm>
            <a:off x="14018543" y="3408547"/>
            <a:ext cx="7095208" cy="3425069"/>
            <a:chOff x="1946270" y="9652000"/>
            <a:chExt cx="6423030" cy="3060700"/>
          </a:xfrm>
        </p:grpSpPr>
        <p:pic>
          <p:nvPicPr>
            <p:cNvPr id="34" name="Picture 7">
              <a:extLst>
                <a:ext uri="{FF2B5EF4-FFF2-40B4-BE49-F238E27FC236}">
                  <a16:creationId xmlns:a16="http://schemas.microsoft.com/office/drawing/2014/main" id="{18398B5B-B9B8-5FDA-1B42-DACD25ACDB7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362200" y="10020300"/>
              <a:ext cx="6007100" cy="2692400"/>
            </a:xfrm>
            <a:prstGeom prst="rect">
              <a:avLst/>
            </a:prstGeom>
            <a:effectLst>
              <a:outerShdw blurRad="121314" dist="20737" dir="2700000">
                <a:srgbClr val="256BFF">
                  <a:alpha val="30000"/>
                </a:srgbClr>
              </a:outerShdw>
            </a:effectLst>
          </p:spPr>
        </p:pic>
        <p:pic>
          <p:nvPicPr>
            <p:cNvPr id="35" name="Picture 8">
              <a:extLst>
                <a:ext uri="{FF2B5EF4-FFF2-40B4-BE49-F238E27FC236}">
                  <a16:creationId xmlns:a16="http://schemas.microsoft.com/office/drawing/2014/main" id="{1FF3B957-BA0C-F6C4-7D70-6DEF7B58045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 amt="90000"/>
            </a:blip>
            <a:stretch>
              <a:fillRect/>
            </a:stretch>
          </p:blipFill>
          <p:spPr>
            <a:xfrm>
              <a:off x="1946270" y="10906203"/>
              <a:ext cx="901700" cy="901700"/>
            </a:xfrm>
            <a:prstGeom prst="rect">
              <a:avLst/>
            </a:prstGeom>
            <a:effectLst>
              <a:outerShdw blurRad="40452" dist="6915" dir="2700000">
                <a:srgbClr val="256BFF">
                  <a:alpha val="15000"/>
                </a:srgbClr>
              </a:outerShdw>
            </a:effectLst>
          </p:spPr>
        </p:pic>
        <p:sp>
          <p:nvSpPr>
            <p:cNvPr id="36" name="TextBox 9">
              <a:extLst>
                <a:ext uri="{FF2B5EF4-FFF2-40B4-BE49-F238E27FC236}">
                  <a16:creationId xmlns:a16="http://schemas.microsoft.com/office/drawing/2014/main" id="{E647705B-4DF1-7DE8-71A0-26E9737A9BE7}"/>
                </a:ext>
              </a:extLst>
            </p:cNvPr>
            <p:cNvSpPr txBox="1"/>
            <p:nvPr/>
          </p:nvSpPr>
          <p:spPr>
            <a:xfrm>
              <a:off x="4953000" y="9652000"/>
              <a:ext cx="825500" cy="6096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ctr">
                <a:lnSpc>
                  <a:spcPct val="116199"/>
                </a:lnSpc>
              </a:pPr>
              <a:endParaRPr lang="en-US" sz="3137" b="0" i="0" u="none" strike="noStrike" dirty="0">
                <a:solidFill>
                  <a:srgbClr val="256B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sp>
        <p:nvSpPr>
          <p:cNvPr id="37" name="TextBox 4">
            <a:extLst>
              <a:ext uri="{FF2B5EF4-FFF2-40B4-BE49-F238E27FC236}">
                <a16:creationId xmlns:a16="http://schemas.microsoft.com/office/drawing/2014/main" id="{D4A4528C-C03A-AFA2-B635-5E1F2F215D35}"/>
              </a:ext>
            </a:extLst>
          </p:cNvPr>
          <p:cNvSpPr txBox="1"/>
          <p:nvPr/>
        </p:nvSpPr>
        <p:spPr>
          <a:xfrm>
            <a:off x="15014606" y="4812061"/>
            <a:ext cx="5562537" cy="1009045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altLang="en-US" sz="4500" b="1" dirty="0">
                <a:solidFill>
                  <a:schemeClr val="bg1">
                    <a:lumMod val="9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셀프 인테리어</a:t>
            </a:r>
            <a:endParaRPr lang="en-US" sz="4500" b="1" i="0" u="none" strike="noStrike" dirty="0">
              <a:solidFill>
                <a:schemeClr val="bg1">
                  <a:lumMod val="9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38" name="Picture 6">
            <a:extLst>
              <a:ext uri="{FF2B5EF4-FFF2-40B4-BE49-F238E27FC236}">
                <a16:creationId xmlns:a16="http://schemas.microsoft.com/office/drawing/2014/main" id="{17DD3426-5F5B-7509-0722-0F376E03BD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0800000">
            <a:off x="6575424" y="7005996"/>
            <a:ext cx="11201400" cy="1196360"/>
          </a:xfrm>
          <a:prstGeom prst="rect">
            <a:avLst/>
          </a:prstGeom>
        </p:spPr>
      </p:pic>
      <p:sp>
        <p:nvSpPr>
          <p:cNvPr id="39" name="TextBox 16">
            <a:extLst>
              <a:ext uri="{FF2B5EF4-FFF2-40B4-BE49-F238E27FC236}">
                <a16:creationId xmlns:a16="http://schemas.microsoft.com/office/drawing/2014/main" id="{B2E03CF2-1167-2833-6971-22870C62D7ED}"/>
              </a:ext>
            </a:extLst>
          </p:cNvPr>
          <p:cNvSpPr txBox="1"/>
          <p:nvPr/>
        </p:nvSpPr>
        <p:spPr>
          <a:xfrm>
            <a:off x="3505200" y="9325672"/>
            <a:ext cx="17868900" cy="685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altLang="ko-KR" sz="4800" dirty="0">
                <a:solidFill>
                  <a:schemeClr val="accent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“</a:t>
            </a:r>
            <a:r>
              <a:rPr lang="ko-KR" altLang="en-US" sz="4800" dirty="0">
                <a:solidFill>
                  <a:schemeClr val="accent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사고 최소화 </a:t>
            </a:r>
            <a:r>
              <a:rPr lang="en-US" altLang="ko-KR" sz="4800" dirty="0">
                <a:solidFill>
                  <a:schemeClr val="accent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&amp; </a:t>
            </a:r>
            <a:r>
              <a:rPr lang="ko-KR" altLang="en-US" sz="4800" dirty="0">
                <a:solidFill>
                  <a:schemeClr val="accent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인테리어 및 가구 설치 서포트</a:t>
            </a:r>
            <a:r>
              <a:rPr lang="en-US" altLang="ko-KR" sz="4800" dirty="0">
                <a:solidFill>
                  <a:schemeClr val="accent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”</a:t>
            </a:r>
            <a:endParaRPr lang="en-US" sz="4800" b="0" i="0" u="none" strike="noStrike" dirty="0">
              <a:solidFill>
                <a:schemeClr val="accent1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44" name="Picture 11">
            <a:extLst>
              <a:ext uri="{FF2B5EF4-FFF2-40B4-BE49-F238E27FC236}">
                <a16:creationId xmlns:a16="http://schemas.microsoft.com/office/drawing/2014/main" id="{FF5694E6-7FF3-5020-2B62-EC853F73634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362266" y="5188963"/>
            <a:ext cx="1193800" cy="1193800"/>
          </a:xfrm>
          <a:prstGeom prst="rect">
            <a:avLst/>
          </a:prstGeom>
          <a:effectLst>
            <a:outerShdw blurRad="118773" dist="36545" dir="4560000">
              <a:srgbClr val="3C84FF">
                <a:alpha val="2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98875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150" y="882650"/>
            <a:ext cx="22491700" cy="11950700"/>
          </a:xfrm>
          <a:prstGeom prst="rect">
            <a:avLst/>
          </a:prstGeom>
          <a:effectLst>
            <a:outerShdw blurRad="597747" dir="4080000">
              <a:srgbClr val="8FD0FE">
                <a:alpha val="30000"/>
              </a:srgbClr>
            </a:outerShdw>
          </a:effectLst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00" y="3949700"/>
            <a:ext cx="20320000" cy="83566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8899999">
            <a:off x="17424400" y="8140700"/>
            <a:ext cx="508000" cy="254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8899999">
            <a:off x="10109200" y="8140700"/>
            <a:ext cx="508000" cy="254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700000">
            <a:off x="13766800" y="8140700"/>
            <a:ext cx="508000" cy="254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700000">
            <a:off x="6451600" y="8140700"/>
            <a:ext cx="508000" cy="254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271865">
            <a:off x="1574800" y="9563100"/>
            <a:ext cx="3378200" cy="3492500"/>
          </a:xfrm>
          <a:prstGeom prst="rect">
            <a:avLst/>
          </a:prstGeom>
          <a:effectLst>
            <a:outerShdw blurRad="337193" dist="77814" dir="4560000">
              <a:srgbClr val="3C84FF">
                <a:alpha val="20000"/>
              </a:srgbClr>
            </a:outerShdw>
          </a:effectLst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6">
            <a:alphaModFix amt="30000"/>
          </a:blip>
          <a:stretch>
            <a:fillRect/>
          </a:stretch>
        </p:blipFill>
        <p:spPr>
          <a:xfrm>
            <a:off x="17475200" y="4597400"/>
            <a:ext cx="4064000" cy="40640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8046700" y="5422900"/>
            <a:ext cx="2921000" cy="622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0350"/>
              </a:lnSpc>
            </a:pPr>
            <a:r>
              <a:rPr lang="en-US" sz="3502" b="0" i="0" u="none" strike="noStrike" spc="-20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5월 주요 이슈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8059400" y="6337300"/>
            <a:ext cx="2895600" cy="1460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2501" b="0" i="0" u="none" strike="noStrike" spc="-2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해당 월에 발생한</a:t>
            </a:r>
          </a:p>
          <a:p>
            <a:pPr lvl="0" algn="ctr">
              <a:lnSpc>
                <a:spcPct val="132800"/>
              </a:lnSpc>
            </a:pPr>
            <a:r>
              <a:rPr lang="en-US" sz="2501" b="0" i="0" u="none" strike="noStrike" spc="-2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업계 주요 이슈나</a:t>
            </a:r>
          </a:p>
          <a:p>
            <a:pPr lvl="0" algn="ctr">
              <a:lnSpc>
                <a:spcPct val="132800"/>
              </a:lnSpc>
            </a:pPr>
            <a:r>
              <a:rPr lang="en-US" sz="2501" b="0" i="0" u="none" strike="noStrike" spc="-2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이벤트를 작성하세요.</a:t>
            </a: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919700" y="6108700"/>
            <a:ext cx="3162300" cy="127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475200" y="4597400"/>
            <a:ext cx="4064000" cy="40640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817600" y="7594600"/>
            <a:ext cx="4064000" cy="40640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0">
            <a:alphaModFix amt="30000"/>
          </a:blip>
          <a:stretch>
            <a:fillRect/>
          </a:stretch>
        </p:blipFill>
        <p:spPr>
          <a:xfrm>
            <a:off x="13817600" y="7594600"/>
            <a:ext cx="4064000" cy="406400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14249400" y="8343900"/>
            <a:ext cx="3175000" cy="622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0350"/>
              </a:lnSpc>
            </a:pPr>
            <a:r>
              <a:rPr lang="en-US" sz="3502" b="0" i="0" u="none" strike="noStrike" spc="-20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04. ARCore 도입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4211300" y="9232900"/>
            <a:ext cx="3327400" cy="1968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2501" b="0" i="0" u="none" strike="noStrike" spc="-200" dirty="0" err="1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단순</a:t>
            </a:r>
            <a:r>
              <a:rPr lang="en-US" sz="2501" b="0" i="0" u="none" strike="noStrike" spc="-200" dirty="0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2D </a:t>
            </a:r>
            <a:r>
              <a:rPr lang="en-US" sz="2501" b="0" i="0" u="none" strike="noStrike" spc="-200" dirty="0" err="1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수치</a:t>
            </a:r>
            <a:r>
              <a:rPr lang="en-US" sz="2501" b="0" i="0" u="none" strike="noStrike" spc="-200" dirty="0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501" b="0" i="0" u="none" strike="noStrike" spc="-200" dirty="0" err="1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출력을</a:t>
            </a:r>
            <a:r>
              <a:rPr lang="en-US" sz="2501" b="0" i="0" u="none" strike="noStrike" spc="-200" dirty="0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501" b="0" i="0" u="none" strike="noStrike" spc="-200" dirty="0" err="1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탈피하고</a:t>
            </a:r>
            <a:r>
              <a:rPr lang="en-US" sz="2501" b="0" i="0" u="none" strike="noStrike" spc="-200" dirty="0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en-US" sz="2501" b="0" i="0" u="none" strike="noStrike" spc="-200" dirty="0" err="1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ARCore</a:t>
            </a:r>
            <a:r>
              <a:rPr lang="en-US" sz="2501" b="0" i="0" u="none" strike="noStrike" spc="-200" dirty="0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501" b="0" i="0" u="none" strike="noStrike" spc="-200" dirty="0" err="1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공간</a:t>
            </a:r>
            <a:r>
              <a:rPr lang="en-US" sz="2501" b="0" i="0" u="none" strike="noStrike" spc="-200" dirty="0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501" b="0" i="0" u="none" strike="noStrike" spc="-200" dirty="0" err="1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추적을</a:t>
            </a:r>
            <a:r>
              <a:rPr lang="en-US" sz="2501" b="0" i="0" u="none" strike="noStrike" spc="-200" dirty="0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501" b="0" i="0" u="none" strike="noStrike" spc="-200" dirty="0" err="1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활용해</a:t>
            </a:r>
            <a:r>
              <a:rPr lang="en-US" sz="2501" b="0" i="0" u="none" strike="noStrike" spc="-200" dirty="0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501" b="0" i="0" u="none" strike="noStrike" spc="-200" dirty="0" err="1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전선</a:t>
            </a:r>
            <a:r>
              <a:rPr lang="en-US" sz="2501" b="0" i="0" u="none" strike="noStrike" spc="-200" dirty="0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501" b="0" i="0" u="none" strike="noStrike" spc="-200" dirty="0" err="1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경로를</a:t>
            </a:r>
            <a:r>
              <a:rPr lang="en-US" sz="2501" b="0" i="0" u="none" strike="noStrike" spc="-200" dirty="0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501" b="0" i="0" u="none" strike="noStrike" spc="-200" dirty="0" err="1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화면에</a:t>
            </a:r>
            <a:r>
              <a:rPr lang="en-US" sz="2501" b="0" i="0" u="none" strike="noStrike" spc="-200" dirty="0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501" b="0" i="0" u="none" strike="noStrike" spc="-200" dirty="0" err="1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실시간</a:t>
            </a:r>
            <a:r>
              <a:rPr lang="en-US" sz="2501" b="0" i="0" u="none" strike="noStrike" spc="-200" dirty="0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501" b="0" i="0" u="none" strike="noStrike" spc="-200" dirty="0" err="1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드로잉</a:t>
            </a:r>
            <a:endParaRPr lang="en-US" sz="2501" b="0" i="0" u="none" strike="noStrike" spc="-200" dirty="0">
              <a:solidFill>
                <a:srgbClr val="FFFFFF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262100" y="9093200"/>
            <a:ext cx="3162300" cy="127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160000" y="4597400"/>
            <a:ext cx="4064000" cy="40640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12">
            <a:alphaModFix amt="30000"/>
          </a:blip>
          <a:stretch>
            <a:fillRect/>
          </a:stretch>
        </p:blipFill>
        <p:spPr>
          <a:xfrm>
            <a:off x="10160000" y="4597400"/>
            <a:ext cx="4064000" cy="4064000"/>
          </a:xfrm>
          <a:prstGeom prst="rect">
            <a:avLst/>
          </a:prstGeom>
        </p:spPr>
      </p:pic>
      <p:sp>
        <p:nvSpPr>
          <p:cNvPr id="21" name="TextBox 21"/>
          <p:cNvSpPr txBox="1"/>
          <p:nvPr/>
        </p:nvSpPr>
        <p:spPr>
          <a:xfrm>
            <a:off x="10299700" y="5448300"/>
            <a:ext cx="3746500" cy="622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0350"/>
              </a:lnSpc>
            </a:pPr>
            <a:r>
              <a:rPr lang="en-US" sz="3502" b="0" i="0" u="none" strike="noStrike" spc="-20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03. 초기 아이디어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718800" y="6337300"/>
            <a:ext cx="2946400" cy="1968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2501" b="0" i="0" u="none" strike="noStrike" spc="-200" dirty="0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"</a:t>
            </a:r>
            <a:r>
              <a:rPr lang="en-US" sz="2501" b="0" i="0" u="none" strike="noStrike" spc="-200" dirty="0" err="1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눈에</a:t>
            </a:r>
            <a:r>
              <a:rPr lang="en-US" sz="2501" b="0" i="0" u="none" strike="noStrike" spc="-200" dirty="0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501" b="0" i="0" u="none" strike="noStrike" spc="-200" dirty="0" err="1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보이지</a:t>
            </a:r>
            <a:r>
              <a:rPr lang="en-US" sz="2501" b="0" i="0" u="none" strike="noStrike" spc="-200" dirty="0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501" b="0" i="0" u="none" strike="noStrike" spc="-200" dirty="0" err="1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않는</a:t>
            </a:r>
            <a:r>
              <a:rPr lang="en-US" sz="2501" b="0" i="0" u="none" strike="noStrike" spc="-200" dirty="0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벽 속 </a:t>
            </a:r>
            <a:r>
              <a:rPr lang="en-US" sz="2501" b="0" i="0" u="none" strike="noStrike" spc="-200" dirty="0" err="1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지자계</a:t>
            </a:r>
            <a:r>
              <a:rPr lang="en-US" sz="2501" b="0" i="0" u="none" strike="noStrike" spc="-200" dirty="0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501" b="0" i="0" u="none" strike="noStrike" spc="-200" dirty="0" err="1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수치를</a:t>
            </a:r>
            <a:r>
              <a:rPr lang="en-US" sz="2501" b="0" i="0" u="none" strike="noStrike" spc="-200" dirty="0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501" b="0" i="0" u="none" strike="noStrike" spc="-200" dirty="0" err="1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열화상</a:t>
            </a:r>
            <a:r>
              <a:rPr lang="en-US" sz="2501" b="0" i="0" u="none" strike="noStrike" spc="-200" dirty="0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501" b="0" i="0" u="none" strike="noStrike" spc="-200" dirty="0" err="1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카메라처럼</a:t>
            </a:r>
            <a:r>
              <a:rPr lang="en-US" sz="2501" b="0" i="0" u="none" strike="noStrike" spc="-200" dirty="0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501" b="0" i="0" u="none" strike="noStrike" spc="-200" dirty="0" err="1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히트맵으로</a:t>
            </a:r>
            <a:r>
              <a:rPr lang="en-US" sz="2501" b="0" i="0" u="none" strike="noStrike" spc="-200" dirty="0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501" b="0" i="0" u="none" strike="noStrike" spc="-200" dirty="0" err="1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매핑할</a:t>
            </a:r>
            <a:r>
              <a:rPr lang="en-US" sz="2501" b="0" i="0" u="none" strike="noStrike" spc="-200" dirty="0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수 </a:t>
            </a:r>
            <a:r>
              <a:rPr lang="en-US" sz="2501" b="0" i="0" u="none" strike="noStrike" spc="-200" dirty="0" err="1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없을까</a:t>
            </a:r>
            <a:r>
              <a:rPr lang="en-US" sz="2501" b="0" i="0" u="none" strike="noStrike" spc="-200" dirty="0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?"</a:t>
            </a: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04500" y="6108700"/>
            <a:ext cx="3162300" cy="127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02400" y="7594600"/>
            <a:ext cx="4064000" cy="40640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6">
            <a:alphaModFix amt="30000"/>
          </a:blip>
          <a:stretch>
            <a:fillRect/>
          </a:stretch>
        </p:blipFill>
        <p:spPr>
          <a:xfrm>
            <a:off x="6502400" y="7594600"/>
            <a:ext cx="4064000" cy="4064000"/>
          </a:xfrm>
          <a:prstGeom prst="rect">
            <a:avLst/>
          </a:prstGeom>
        </p:spPr>
      </p:pic>
      <p:sp>
        <p:nvSpPr>
          <p:cNvPr id="26" name="TextBox 26"/>
          <p:cNvSpPr txBox="1"/>
          <p:nvPr/>
        </p:nvSpPr>
        <p:spPr>
          <a:xfrm>
            <a:off x="7073900" y="8407400"/>
            <a:ext cx="2921000" cy="622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0350"/>
              </a:lnSpc>
            </a:pPr>
            <a:r>
              <a:rPr lang="en-US" sz="3502" b="0" i="0" u="none" strike="noStrike" spc="-20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02. 핵심 UX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048500" y="9321800"/>
            <a:ext cx="2959100" cy="1460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2501" b="0" i="0" u="none" strike="noStrike" spc="-2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다크 모드 기반 고대비 UI 구성 및 0.1도 단위의 직관적인 데이터 시각화</a:t>
            </a:r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46900" y="9093200"/>
            <a:ext cx="3162300" cy="12700"/>
          </a:xfrm>
          <a:prstGeom prst="rect">
            <a:avLst/>
          </a:prstGeom>
        </p:spPr>
      </p:pic>
      <p:pic>
        <p:nvPicPr>
          <p:cNvPr id="29" name="Picture 29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844800" y="4597400"/>
            <a:ext cx="4064000" cy="4064000"/>
          </a:xfrm>
          <a:prstGeom prst="rect">
            <a:avLst/>
          </a:prstGeom>
        </p:spPr>
      </p:pic>
      <p:pic>
        <p:nvPicPr>
          <p:cNvPr id="30" name="Picture 30"/>
          <p:cNvPicPr>
            <a:picLocks noChangeAspect="1"/>
          </p:cNvPicPr>
          <p:nvPr/>
        </p:nvPicPr>
        <p:blipFill>
          <a:blip r:embed="rId12">
            <a:alphaModFix amt="30000"/>
          </a:blip>
          <a:stretch>
            <a:fillRect/>
          </a:stretch>
        </p:blipFill>
        <p:spPr>
          <a:xfrm>
            <a:off x="2844800" y="4597400"/>
            <a:ext cx="4064000" cy="4064000"/>
          </a:xfrm>
          <a:prstGeom prst="rect">
            <a:avLst/>
          </a:prstGeom>
        </p:spPr>
      </p:pic>
      <p:sp>
        <p:nvSpPr>
          <p:cNvPr id="31" name="TextBox 31"/>
          <p:cNvSpPr txBox="1"/>
          <p:nvPr/>
        </p:nvSpPr>
        <p:spPr>
          <a:xfrm>
            <a:off x="3416300" y="5422900"/>
            <a:ext cx="2921000" cy="622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0350"/>
              </a:lnSpc>
            </a:pPr>
            <a:r>
              <a:rPr lang="en-US" sz="3502" b="0" i="0" u="none" strike="noStrike" spc="-20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01. 설계 의도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3381664" y="6251603"/>
            <a:ext cx="2895600" cy="173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2501" b="0" i="0" u="none" strike="noStrike" spc="-200" dirty="0" err="1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현장</a:t>
            </a:r>
            <a:r>
              <a:rPr lang="en-US" sz="2501" b="0" i="0" u="none" strike="noStrike" spc="-200" dirty="0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501" b="0" i="0" u="none" strike="noStrike" spc="-200" dirty="0" err="1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시공</a:t>
            </a:r>
            <a:r>
              <a:rPr lang="en-US" sz="2501" b="0" i="0" u="none" strike="noStrike" spc="-200" dirty="0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및 DIY </a:t>
            </a:r>
            <a:r>
              <a:rPr lang="en-US" sz="2501" b="0" i="0" u="none" strike="noStrike" spc="-200" dirty="0" err="1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작업</a:t>
            </a:r>
            <a:r>
              <a:rPr lang="en-US" sz="2501" b="0" i="0" u="none" strike="noStrike" spc="-200" dirty="0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시 </a:t>
            </a:r>
            <a:r>
              <a:rPr lang="en-US" sz="2501" b="0" i="0" u="none" strike="noStrike" spc="-200" dirty="0" err="1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안전성과</a:t>
            </a:r>
            <a:r>
              <a:rPr lang="en-US" sz="2501" b="0" i="0" u="none" strike="noStrike" spc="-200" dirty="0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501" b="0" i="0" u="none" strike="noStrike" spc="-200" dirty="0" err="1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편의성을</a:t>
            </a:r>
            <a:r>
              <a:rPr lang="en-US" sz="2501" b="0" i="0" u="none" strike="noStrike" spc="-200" dirty="0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501" b="0" i="0" u="none" strike="noStrike" spc="-200" dirty="0" err="1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모두</a:t>
            </a:r>
            <a:r>
              <a:rPr lang="en-US" sz="2501" b="0" i="0" u="none" strike="noStrike" spc="-200" dirty="0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501" b="0" i="0" u="none" strike="noStrike" spc="-200" dirty="0" err="1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잡는</a:t>
            </a:r>
            <a:r>
              <a:rPr lang="en-US" sz="2501" b="0" i="0" u="none" strike="noStrike" spc="-200" dirty="0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501" b="0" i="0" u="none" strike="noStrike" spc="-200" dirty="0" err="1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스마트</a:t>
            </a:r>
            <a:r>
              <a:rPr lang="en-US" sz="2501" b="0" i="0" u="none" strike="noStrike" spc="-200" dirty="0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501" b="0" i="0" u="none" strike="noStrike" spc="-200" dirty="0" err="1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가이드</a:t>
            </a:r>
            <a:r>
              <a:rPr lang="en-US" sz="2501" b="0" i="0" u="none" strike="noStrike" spc="-200" dirty="0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501" b="0" i="0" u="none" strike="noStrike" spc="-200" dirty="0" err="1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구축</a:t>
            </a:r>
            <a:endParaRPr lang="en-US" sz="2501" b="0" i="0" u="none" strike="noStrike" spc="-200" dirty="0">
              <a:solidFill>
                <a:srgbClr val="FFFFFF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33" name="Picture 3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89300" y="6108700"/>
            <a:ext cx="3162300" cy="12700"/>
          </a:xfrm>
          <a:prstGeom prst="rect">
            <a:avLst/>
          </a:prstGeom>
        </p:spPr>
      </p:pic>
      <p:sp>
        <p:nvSpPr>
          <p:cNvPr id="34" name="TextBox 34"/>
          <p:cNvSpPr txBox="1"/>
          <p:nvPr/>
        </p:nvSpPr>
        <p:spPr>
          <a:xfrm>
            <a:off x="1676400" y="1330670"/>
            <a:ext cx="4000500" cy="1308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5500" b="0" i="0" u="none" strike="noStrike" spc="-3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SemiBold"/>
                <a:ea typeface="Pretendard SemiBold"/>
                <a:cs typeface="Pretendard SemiBold"/>
              </a:rPr>
              <a:t>기획</a:t>
            </a:r>
            <a:r>
              <a:rPr lang="en-US" sz="5500" b="0" i="0" u="none" strike="noStrike" spc="-3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SemiBold"/>
                <a:ea typeface="Pretendard SemiBold"/>
                <a:cs typeface="Pretendard SemiBold"/>
              </a:rPr>
              <a:t> 및 </a:t>
            </a:r>
            <a:r>
              <a:rPr lang="en-US" sz="5500" b="0" i="0" u="none" strike="noStrike" spc="-3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SemiBold"/>
                <a:ea typeface="Pretendard SemiBold"/>
                <a:cs typeface="Pretendard SemiBold"/>
              </a:rPr>
              <a:t>설계</a:t>
            </a:r>
            <a:endParaRPr lang="en-US" sz="5500" b="0" i="0" u="none" strike="noStrike" spc="-300" dirty="0">
              <a:solidFill>
                <a:schemeClr val="tx1">
                  <a:lumMod val="65000"/>
                  <a:lumOff val="35000"/>
                </a:schemeClr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18173700" y="5448300"/>
            <a:ext cx="2921000" cy="622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0350"/>
              </a:lnSpc>
            </a:pPr>
            <a:r>
              <a:rPr lang="en-US" sz="3502" b="0" i="0" u="none" strike="noStrike" spc="-20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05. 최종 설계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8021300" y="6337300"/>
            <a:ext cx="3073400" cy="1460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2501" b="0" i="0" u="none" strike="noStrike" spc="-2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실시간 3D 배선 매핑과 정밀 이원화 수평계 통합 시스템 완성</a:t>
            </a:r>
          </a:p>
        </p:txBody>
      </p:sp>
      <p:pic>
        <p:nvPicPr>
          <p:cNvPr id="37" name="Picture 3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881600" y="6121400"/>
            <a:ext cx="3162300" cy="127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-800100" y="-736600"/>
            <a:ext cx="8432800" cy="15506700"/>
          </a:xfrm>
          <a:prstGeom prst="rect">
            <a:avLst/>
          </a:prstGeom>
          <a:effectLst>
            <a:outerShdw blurRad="379665" dist="64900" dir="2700000">
              <a:srgbClr val="256BFF">
                <a:alpha val="15000"/>
              </a:srgbClr>
            </a:outerShdw>
          </a:effectLst>
        </p:spPr>
      </p:pic>
      <p:sp>
        <p:nvSpPr>
          <p:cNvPr id="3" name="TextBox 3"/>
          <p:cNvSpPr txBox="1"/>
          <p:nvPr/>
        </p:nvSpPr>
        <p:spPr>
          <a:xfrm>
            <a:off x="939800" y="4572000"/>
            <a:ext cx="6502400" cy="850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800" b="0" i="0" u="sng" strike="noStrike">
                <a:solidFill>
                  <a:srgbClr val="256BFF"/>
                </a:solidFill>
                <a:latin typeface="Pretendard Bold"/>
                <a:ea typeface="Pretendard Bold"/>
                <a:cs typeface="Pretendard Bold"/>
              </a:rPr>
              <a:t>Safety Scan(전선 탐지)</a:t>
            </a: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939800" y="3073400"/>
            <a:ext cx="4089400" cy="8636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774700" y="3048000"/>
            <a:ext cx="3784600" cy="9144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1066800" y="3289300"/>
            <a:ext cx="3200400" cy="469900"/>
          </a:xfrm>
          <a:prstGeom prst="rect">
            <a:avLst/>
          </a:prstGeom>
        </p:spPr>
        <p:txBody>
          <a:bodyPr lIns="0" tIns="3048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2400" b="0" i="0" u="none" strike="noStrike">
                <a:solidFill>
                  <a:srgbClr val="FFFFFF"/>
                </a:solidFill>
                <a:latin typeface="Prompt-Regular"/>
                <a:ea typeface="Prompt-Regular"/>
                <a:cs typeface="Prompt-Regular"/>
              </a:rPr>
              <a:t>MODE 1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74700" y="939800"/>
            <a:ext cx="5930900" cy="952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5500" b="0" i="0" u="none" strike="noStrike" dirty="0" err="1">
                <a:solidFill>
                  <a:srgbClr val="4E4E4E"/>
                </a:solidFill>
                <a:latin typeface="Pretendard Bold"/>
                <a:ea typeface="Pretendard Bold"/>
                <a:cs typeface="Pretendard Bold"/>
              </a:rPr>
              <a:t>초기</a:t>
            </a:r>
            <a:r>
              <a:rPr lang="en-US" sz="5500" b="0" i="0" u="none" strike="noStrike" dirty="0">
                <a:solidFill>
                  <a:srgbClr val="4E4E4E"/>
                </a:solidFill>
                <a:latin typeface="Pretendard Bold"/>
                <a:ea typeface="Pretendard Bold"/>
                <a:cs typeface="Pretendard Bold"/>
              </a:rPr>
              <a:t> </a:t>
            </a:r>
            <a:r>
              <a:rPr lang="en-US" sz="5500" b="0" i="0" u="none" strike="noStrike" dirty="0" err="1">
                <a:solidFill>
                  <a:srgbClr val="4E4E4E"/>
                </a:solidFill>
                <a:latin typeface="Pretendard Bold"/>
                <a:ea typeface="Pretendard Bold"/>
                <a:cs typeface="Pretendard Bold"/>
              </a:rPr>
              <a:t>화면</a:t>
            </a:r>
            <a:r>
              <a:rPr lang="en-US" sz="5500" b="0" i="0" u="none" strike="noStrike" dirty="0">
                <a:solidFill>
                  <a:srgbClr val="4E4E4E"/>
                </a:solidFill>
                <a:latin typeface="Pretendard Bold"/>
                <a:ea typeface="Pretendard Bold"/>
                <a:cs typeface="Pretendard Bold"/>
              </a:rPr>
              <a:t> </a:t>
            </a:r>
            <a:r>
              <a:rPr lang="en-US" sz="5500" b="0" i="0" u="none" strike="noStrike" dirty="0" err="1">
                <a:solidFill>
                  <a:srgbClr val="4E4E4E"/>
                </a:solidFill>
                <a:latin typeface="Pretendard Bold"/>
                <a:ea typeface="Pretendard Bold"/>
                <a:cs typeface="Pretendard Bold"/>
              </a:rPr>
              <a:t>구조도</a:t>
            </a:r>
            <a:r>
              <a:rPr lang="en-US" sz="5500" b="0" i="0" u="none" strike="noStrike" dirty="0">
                <a:solidFill>
                  <a:srgbClr val="4E4E4E"/>
                </a:solidFill>
                <a:latin typeface="Pretendard Bold"/>
                <a:ea typeface="Pretendard Bold"/>
                <a:cs typeface="Pretendard Bold"/>
              </a:rPr>
              <a:t>(1)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48800" y="5295900"/>
            <a:ext cx="5486400" cy="31115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50200" y="2146300"/>
            <a:ext cx="16116300" cy="101219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-800100" y="-736600"/>
            <a:ext cx="8432800" cy="15506700"/>
          </a:xfrm>
          <a:prstGeom prst="rect">
            <a:avLst/>
          </a:prstGeom>
          <a:effectLst>
            <a:outerShdw blurRad="379665" dist="64900" dir="2700000">
              <a:srgbClr val="256BFF">
                <a:alpha val="15000"/>
              </a:srgbClr>
            </a:outerShdw>
          </a:effectLst>
        </p:spPr>
      </p:pic>
      <p:sp>
        <p:nvSpPr>
          <p:cNvPr id="3" name="TextBox 3"/>
          <p:cNvSpPr txBox="1"/>
          <p:nvPr/>
        </p:nvSpPr>
        <p:spPr>
          <a:xfrm>
            <a:off x="939800" y="4572000"/>
            <a:ext cx="6350000" cy="850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800" b="0" i="0" u="sng" strike="noStrike" dirty="0">
                <a:solidFill>
                  <a:srgbClr val="256BFF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Smart Leveler(</a:t>
            </a:r>
            <a:r>
              <a:rPr lang="en-US" sz="4800" b="0" i="0" u="sng" strike="noStrike" dirty="0" err="1">
                <a:solidFill>
                  <a:srgbClr val="256BFF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수평계</a:t>
            </a:r>
            <a:r>
              <a:rPr lang="en-US" sz="4800" b="0" i="0" u="sng" strike="noStrike" dirty="0">
                <a:solidFill>
                  <a:srgbClr val="256BFF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)</a:t>
            </a: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939800" y="3073400"/>
            <a:ext cx="4089400" cy="8636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774700" y="3048000"/>
            <a:ext cx="3784600" cy="9144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1066800" y="3289300"/>
            <a:ext cx="3200400" cy="469900"/>
          </a:xfrm>
          <a:prstGeom prst="rect">
            <a:avLst/>
          </a:prstGeom>
        </p:spPr>
        <p:txBody>
          <a:bodyPr lIns="0" tIns="3048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2400" b="0" i="0" u="none" strike="noStrike">
                <a:solidFill>
                  <a:srgbClr val="FFFFFF"/>
                </a:solidFill>
                <a:latin typeface="Prompt-Regular"/>
                <a:ea typeface="Prompt-Regular"/>
                <a:cs typeface="Prompt-Regular"/>
              </a:rPr>
              <a:t>MODE 2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39800" y="1003300"/>
            <a:ext cx="5676900" cy="952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5500" b="0" i="0" u="none" strike="noStrike" dirty="0" err="1">
                <a:solidFill>
                  <a:srgbClr val="4E4E4E"/>
                </a:solidFill>
                <a:latin typeface="Pretendard Bold"/>
                <a:ea typeface="Pretendard Bold"/>
                <a:cs typeface="Pretendard Bold"/>
              </a:rPr>
              <a:t>초기</a:t>
            </a:r>
            <a:r>
              <a:rPr lang="en-US" sz="5500" b="0" i="0" u="none" strike="noStrike" dirty="0">
                <a:solidFill>
                  <a:srgbClr val="4E4E4E"/>
                </a:solidFill>
                <a:latin typeface="Pretendard Bold"/>
                <a:ea typeface="Pretendard Bold"/>
                <a:cs typeface="Pretendard Bold"/>
              </a:rPr>
              <a:t> </a:t>
            </a:r>
            <a:r>
              <a:rPr lang="en-US" sz="5500" b="0" i="0" u="none" strike="noStrike" dirty="0" err="1">
                <a:solidFill>
                  <a:srgbClr val="4E4E4E"/>
                </a:solidFill>
                <a:latin typeface="Pretendard Bold"/>
                <a:ea typeface="Pretendard Bold"/>
                <a:cs typeface="Pretendard Bold"/>
              </a:rPr>
              <a:t>화면</a:t>
            </a:r>
            <a:r>
              <a:rPr lang="en-US" sz="5500" b="0" i="0" u="none" strike="noStrike" dirty="0">
                <a:solidFill>
                  <a:srgbClr val="4E4E4E"/>
                </a:solidFill>
                <a:latin typeface="Pretendard Bold"/>
                <a:ea typeface="Pretendard Bold"/>
                <a:cs typeface="Pretendard Bold"/>
              </a:rPr>
              <a:t> </a:t>
            </a:r>
            <a:r>
              <a:rPr lang="en-US" sz="5500" b="0" i="0" u="none" strike="noStrike" dirty="0" err="1">
                <a:solidFill>
                  <a:srgbClr val="4E4E4E"/>
                </a:solidFill>
                <a:latin typeface="Pretendard Bold"/>
                <a:ea typeface="Pretendard Bold"/>
                <a:cs typeface="Pretendard Bold"/>
              </a:rPr>
              <a:t>구조도</a:t>
            </a:r>
            <a:r>
              <a:rPr lang="en-US" sz="5500" b="0" i="0" u="none" strike="noStrike" dirty="0">
                <a:solidFill>
                  <a:srgbClr val="4E4E4E"/>
                </a:solidFill>
                <a:latin typeface="Pretendard Bold"/>
                <a:ea typeface="Pretendard Bold"/>
                <a:cs typeface="Pretendard Bold"/>
              </a:rPr>
              <a:t>(2)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88300" y="2552700"/>
            <a:ext cx="16129000" cy="9169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90000"/>
          </a:blip>
          <a:stretch>
            <a:fillRect/>
          </a:stretch>
        </p:blipFill>
        <p:spPr>
          <a:xfrm>
            <a:off x="7366000" y="9588500"/>
            <a:ext cx="6108700" cy="3187700"/>
          </a:xfrm>
          <a:prstGeom prst="rect">
            <a:avLst/>
          </a:prstGeom>
          <a:effectLst>
            <a:outerShdw blurRad="143601" dist="24547" dir="2700000">
              <a:srgbClr val="256BFF">
                <a:alpha val="15000"/>
              </a:srgbClr>
            </a:outerShdw>
          </a:effectLst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>
            <a:alphaModFix amt="90000"/>
          </a:blip>
          <a:stretch>
            <a:fillRect/>
          </a:stretch>
        </p:blipFill>
        <p:spPr>
          <a:xfrm>
            <a:off x="7353300" y="5994400"/>
            <a:ext cx="6108700" cy="3187700"/>
          </a:xfrm>
          <a:prstGeom prst="rect">
            <a:avLst/>
          </a:prstGeom>
          <a:effectLst>
            <a:outerShdw blurRad="143601" dist="24547" dir="2700000">
              <a:srgbClr val="256BFF">
                <a:alpha val="15000"/>
              </a:srgbClr>
            </a:outerShdw>
          </a:effectLst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7400" y="6350000"/>
            <a:ext cx="3987800" cy="6858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0100" y="9944100"/>
            <a:ext cx="3987800" cy="6858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0800000">
            <a:off x="8394700" y="6324600"/>
            <a:ext cx="4038600" cy="7112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0800000">
            <a:off x="8394700" y="9931400"/>
            <a:ext cx="4038600" cy="7112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6">
            <a:alphaModFix amt="80000"/>
          </a:blip>
          <a:stretch>
            <a:fillRect/>
          </a:stretch>
        </p:blipFill>
        <p:spPr>
          <a:xfrm>
            <a:off x="-838200" y="-736600"/>
            <a:ext cx="6985000" cy="15506700"/>
          </a:xfrm>
          <a:prstGeom prst="rect">
            <a:avLst/>
          </a:prstGeom>
          <a:effectLst>
            <a:outerShdw blurRad="314489" dist="53759" dir="2700000">
              <a:srgbClr val="256BFF">
                <a:alpha val="15000"/>
              </a:srgbClr>
            </a:outerShdw>
          </a:effectLst>
        </p:spPr>
      </p:pic>
      <p:sp>
        <p:nvSpPr>
          <p:cNvPr id="9" name="TextBox 9"/>
          <p:cNvSpPr txBox="1"/>
          <p:nvPr/>
        </p:nvSpPr>
        <p:spPr>
          <a:xfrm>
            <a:off x="6591300" y="2616200"/>
            <a:ext cx="5842000" cy="59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2760"/>
              </a:lnSpc>
            </a:pPr>
            <a:r>
              <a:rPr lang="en-US" sz="3333" b="0" i="0" u="none" strike="noStrike" spc="-10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작업</a:t>
            </a:r>
            <a:r>
              <a:rPr lang="en-US" sz="3333" b="0" i="0" u="none" strike="noStrike" spc="-10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333" b="0" i="0" u="none" strike="noStrike" spc="-10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일정</a:t>
            </a:r>
            <a:r>
              <a:rPr lang="en-US" sz="3333" b="0" i="0" u="none" strike="noStrike" spc="-10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: 5월 7일 ~ 6월 16일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645400" y="7696200"/>
            <a:ext cx="5537200" cy="546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3066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전선 탐지 모드 시각화 방식 고도화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712200" y="6502400"/>
            <a:ext cx="33909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초기대비 변경 사항(1)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645400" y="10972800"/>
            <a:ext cx="5537200" cy="546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3066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디지털 수평계 측정 시스템 세분화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724900" y="10096500"/>
            <a:ext cx="33909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초기대비 변경 사항(2)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89000" y="977900"/>
            <a:ext cx="3454400" cy="952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5500" b="0" i="0" u="none" strike="noStrike" dirty="0" err="1">
                <a:solidFill>
                  <a:srgbClr val="4E4E4E"/>
                </a:solidFill>
                <a:latin typeface="Pretendard Bold"/>
                <a:ea typeface="Pretendard Bold"/>
                <a:cs typeface="Pretendard Bold"/>
              </a:rPr>
              <a:t>개발과정</a:t>
            </a:r>
            <a:r>
              <a:rPr lang="en-US" sz="5500" b="0" i="0" u="none" strike="noStrike" dirty="0">
                <a:solidFill>
                  <a:srgbClr val="4E4E4E"/>
                </a:solidFill>
                <a:latin typeface="Pretendard Bold"/>
                <a:ea typeface="Pretendard Bold"/>
                <a:cs typeface="Pretendard Bold"/>
              </a:rPr>
              <a:t>(1)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728700" y="6324600"/>
            <a:ext cx="9385300" cy="3797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666" b="1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초기</a:t>
            </a:r>
            <a:r>
              <a:rPr lang="en-US" sz="2666" b="1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666" b="1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기획</a:t>
            </a:r>
            <a:r>
              <a:rPr lang="en-US" sz="2666" b="1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:</a:t>
            </a:r>
            <a:r>
              <a:rPr lang="en-US" sz="2666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 </a:t>
            </a:r>
            <a:r>
              <a:rPr lang="en-US" sz="2666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자기장</a:t>
            </a:r>
            <a:r>
              <a:rPr lang="en-US" sz="2666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666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수치에</a:t>
            </a:r>
            <a:r>
              <a:rPr lang="en-US" sz="2666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666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따라</a:t>
            </a:r>
            <a:r>
              <a:rPr lang="en-US" sz="2666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666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화면</a:t>
            </a:r>
            <a:r>
              <a:rPr lang="en-US" sz="2666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속 2D </a:t>
            </a:r>
            <a:r>
              <a:rPr lang="en-US" sz="2666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격자무늬</a:t>
            </a:r>
            <a:r>
              <a:rPr lang="en-US" sz="2666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 </a:t>
            </a:r>
            <a:r>
              <a:rPr lang="en-US" sz="2666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내부</a:t>
            </a:r>
            <a:r>
              <a:rPr lang="en-US" sz="2666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666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큐브가</a:t>
            </a:r>
            <a:r>
              <a:rPr lang="en-US" sz="2666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666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적색으로</a:t>
            </a:r>
            <a:r>
              <a:rPr lang="en-US" sz="2666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666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채워지는</a:t>
            </a:r>
            <a:r>
              <a:rPr lang="en-US" sz="2666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'</a:t>
            </a:r>
            <a:r>
              <a:rPr lang="en-US" sz="2666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자기장</a:t>
            </a:r>
            <a:r>
              <a:rPr lang="en-US" sz="2666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666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기반</a:t>
            </a:r>
            <a:r>
              <a:rPr lang="en-US" sz="2666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666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히트맵</a:t>
            </a:r>
            <a:r>
              <a:rPr lang="en-US" sz="2666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666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맵핑</a:t>
            </a:r>
            <a:r>
              <a:rPr lang="en-US" sz="2666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' </a:t>
            </a:r>
            <a:r>
              <a:rPr lang="en-US" sz="2666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방식</a:t>
            </a:r>
            <a:endParaRPr lang="en-US" sz="2666" b="0" i="0" u="none" strike="noStrike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  <a:p>
            <a:pPr lvl="0" algn="ctr">
              <a:lnSpc>
                <a:spcPct val="116199"/>
              </a:lnSpc>
            </a:pPr>
            <a:endParaRPr lang="en-US" sz="2666" b="0" i="0" u="none" strike="noStrike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  <a:p>
            <a:pPr lvl="0" algn="ctr">
              <a:lnSpc>
                <a:spcPct val="116199"/>
              </a:lnSpc>
            </a:pPr>
            <a:r>
              <a:rPr lang="en-US" sz="2666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최</a:t>
            </a:r>
            <a:r>
              <a:rPr lang="en-US" sz="2666" b="1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종</a:t>
            </a:r>
            <a:r>
              <a:rPr lang="en-US" sz="2666" b="1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666" b="1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구현</a:t>
            </a:r>
            <a:r>
              <a:rPr lang="en-US" sz="2666" b="1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:</a:t>
            </a:r>
            <a:r>
              <a:rPr lang="en-US" sz="2666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666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단순</a:t>
            </a:r>
            <a:r>
              <a:rPr lang="en-US" sz="2666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2D </a:t>
            </a:r>
            <a:r>
              <a:rPr lang="en-US" sz="2666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격자를</a:t>
            </a:r>
            <a:r>
              <a:rPr lang="en-US" sz="2666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666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탈피하고</a:t>
            </a:r>
            <a:r>
              <a:rPr lang="en-US" sz="2666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666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ARCore</a:t>
            </a:r>
            <a:r>
              <a:rPr lang="en-US" sz="2666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666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엔진의</a:t>
            </a:r>
            <a:r>
              <a:rPr lang="en-US" sz="2666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3D </a:t>
            </a:r>
            <a:r>
              <a:rPr lang="en-US" sz="2666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공간</a:t>
            </a:r>
            <a:r>
              <a:rPr lang="en-US" sz="2666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666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앵커링</a:t>
            </a:r>
            <a:r>
              <a:rPr lang="en-US" sz="2666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666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기술을</a:t>
            </a:r>
            <a:r>
              <a:rPr lang="en-US" sz="2666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666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도입</a:t>
            </a:r>
            <a:endParaRPr lang="en-US" sz="2666" b="0" i="0" u="none" strike="noStrike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  <a:p>
            <a:pPr lvl="0" algn="ctr">
              <a:lnSpc>
                <a:spcPct val="116199"/>
              </a:lnSpc>
            </a:pPr>
            <a:r>
              <a:rPr lang="en-US" sz="2666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 </a:t>
            </a:r>
            <a:r>
              <a:rPr lang="en-US" sz="2666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매립</a:t>
            </a:r>
            <a:r>
              <a:rPr lang="en-US" sz="2666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666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전선</a:t>
            </a:r>
            <a:r>
              <a:rPr lang="en-US" sz="2666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666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경로를</a:t>
            </a:r>
            <a:r>
              <a:rPr lang="en-US" sz="2666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666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붉은색</a:t>
            </a:r>
            <a:r>
              <a:rPr lang="en-US" sz="2666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666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벡터</a:t>
            </a:r>
            <a:r>
              <a:rPr lang="en-US" sz="2666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666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폴리라인으로</a:t>
            </a:r>
            <a:r>
              <a:rPr lang="en-US" sz="2666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666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직접</a:t>
            </a:r>
            <a:r>
              <a:rPr lang="en-US" sz="2666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666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드로잉하여</a:t>
            </a:r>
            <a:r>
              <a:rPr lang="en-US" sz="2666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666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시각적</a:t>
            </a:r>
            <a:r>
              <a:rPr lang="en-US" sz="2666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666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직관성</a:t>
            </a:r>
            <a:r>
              <a:rPr lang="en-US" sz="2666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및 </a:t>
            </a:r>
            <a:r>
              <a:rPr lang="en-US" sz="2666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탐지</a:t>
            </a:r>
            <a:r>
              <a:rPr lang="en-US" sz="2666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666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정확도</a:t>
            </a:r>
            <a:r>
              <a:rPr lang="en-US" sz="2666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666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대폭</a:t>
            </a:r>
            <a:r>
              <a:rPr lang="en-US" sz="2666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666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향상</a:t>
            </a:r>
            <a:endParaRPr lang="en-US" sz="2666" b="0" i="0" u="none" strike="noStrike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  <a:p>
            <a:pPr lvl="0" algn="ctr">
              <a:lnSpc>
                <a:spcPct val="116199"/>
              </a:lnSpc>
            </a:pPr>
            <a:endParaRPr lang="en-US" sz="2666" b="0" i="0" u="none" strike="noStrike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3919200" y="10083800"/>
            <a:ext cx="8102600" cy="889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508" b="0" i="0" u="none" strike="noStrike" dirty="0" err="1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초기</a:t>
            </a:r>
            <a:r>
              <a:rPr lang="en-US" sz="2508" b="0" i="0" u="none" strike="noStrike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508" b="0" i="0" u="none" strike="noStrike" dirty="0" err="1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기획</a:t>
            </a:r>
            <a:r>
              <a:rPr lang="en-US" sz="2508" b="0" i="0" u="none" strike="noStrike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 : </a:t>
            </a:r>
            <a:r>
              <a:rPr lang="en-US" sz="2508" b="0" i="0" u="none" strike="noStrike" dirty="0" err="1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화면</a:t>
            </a:r>
            <a:r>
              <a:rPr lang="en-US" sz="2508" b="0" i="0" u="none" strike="noStrike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508" b="0" i="0" u="none" strike="noStrike" dirty="0" err="1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중앙에</a:t>
            </a:r>
            <a:r>
              <a:rPr lang="en-US" sz="2508" b="0" i="0" u="none" strike="noStrike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508" b="0" i="0" u="none" strike="noStrike" dirty="0" err="1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실시간</a:t>
            </a:r>
            <a:r>
              <a:rPr lang="en-US" sz="2508" b="0" i="0" u="none" strike="noStrike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508" b="0" i="0" u="none" strike="noStrike" dirty="0" err="1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기울기를</a:t>
            </a:r>
            <a:r>
              <a:rPr lang="en-US" sz="2508" b="0" i="0" u="none" strike="noStrike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큰 </a:t>
            </a:r>
            <a:r>
              <a:rPr lang="en-US" sz="2508" b="0" i="0" u="none" strike="noStrike" dirty="0" err="1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숫자로</a:t>
            </a:r>
            <a:r>
              <a:rPr lang="en-US" sz="2508" b="0" i="0" u="none" strike="noStrike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508" b="0" i="0" u="none" strike="noStrike" dirty="0" err="1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표시하고</a:t>
            </a:r>
            <a:r>
              <a:rPr lang="en-US" sz="2508" b="0" i="0" u="none" strike="noStrike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508" b="0" i="0" u="none" strike="noStrike" dirty="0" err="1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평형</a:t>
            </a:r>
            <a:r>
              <a:rPr lang="en-US" sz="2508" b="0" i="0" u="none" strike="noStrike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508" b="0" i="0" u="none" strike="noStrike" dirty="0" err="1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도달</a:t>
            </a:r>
            <a:r>
              <a:rPr lang="en-US" sz="2508" b="0" i="0" u="none" strike="noStrike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시 </a:t>
            </a:r>
            <a:r>
              <a:rPr lang="en-US" sz="2508" b="0" i="0" u="none" strike="noStrike" dirty="0" err="1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햅틱</a:t>
            </a:r>
            <a:r>
              <a:rPr lang="en-US" sz="2508" b="0" i="0" u="none" strike="noStrike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508" b="0" i="0" u="none" strike="noStrike" dirty="0" err="1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진동을</a:t>
            </a:r>
            <a:r>
              <a:rPr lang="en-US" sz="2508" b="0" i="0" u="none" strike="noStrike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508" b="0" i="0" u="none" strike="noStrike" dirty="0" err="1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주는</a:t>
            </a:r>
            <a:r>
              <a:rPr lang="en-US" sz="2508" b="0" i="0" u="none" strike="noStrike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508" b="0" i="0" u="none" strike="noStrike" dirty="0" err="1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단일</a:t>
            </a:r>
            <a:r>
              <a:rPr lang="en-US" sz="2508" b="0" i="0" u="none" strike="noStrike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508" b="0" i="0" u="none" strike="noStrike" dirty="0" err="1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측정</a:t>
            </a:r>
            <a:r>
              <a:rPr lang="en-US" sz="2508" b="0" i="0" u="none" strike="noStrike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508" b="0" i="0" u="none" strike="noStrike" dirty="0" err="1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방식</a:t>
            </a:r>
            <a:endParaRPr lang="en-US" sz="2508" b="0" i="0" u="none" strike="noStrike" dirty="0">
              <a:solidFill>
                <a:srgbClr val="00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3919200" y="11518900"/>
            <a:ext cx="8699500" cy="952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666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최종</a:t>
            </a:r>
            <a:r>
              <a:rPr lang="en-US" sz="2666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666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구현</a:t>
            </a:r>
            <a:r>
              <a:rPr lang="en-US" sz="2666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: </a:t>
            </a:r>
            <a:r>
              <a:rPr lang="en-US" sz="2666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실제</a:t>
            </a:r>
            <a:r>
              <a:rPr lang="en-US" sz="2666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666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작업</a:t>
            </a:r>
            <a:r>
              <a:rPr lang="en-US" sz="2666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666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현장의</a:t>
            </a:r>
            <a:r>
              <a:rPr lang="en-US" sz="2666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666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시나리오를</a:t>
            </a:r>
            <a:r>
              <a:rPr lang="en-US" sz="2666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666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반영하여</a:t>
            </a:r>
            <a:r>
              <a:rPr lang="en-US" sz="2666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666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이원화</a:t>
            </a:r>
            <a:r>
              <a:rPr lang="en-US" sz="2666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666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측정</a:t>
            </a:r>
            <a:r>
              <a:rPr lang="en-US" sz="2666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666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시스템</a:t>
            </a:r>
            <a:r>
              <a:rPr lang="en-US" sz="2666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(Dual-Mode)</a:t>
            </a:r>
            <a:r>
              <a:rPr lang="en-US" sz="2666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으로</a:t>
            </a:r>
            <a:r>
              <a:rPr lang="en-US" sz="2666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666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구조를</a:t>
            </a:r>
            <a:r>
              <a:rPr lang="en-US" sz="2666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666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확장</a:t>
            </a:r>
            <a:r>
              <a:rPr lang="en-US" sz="2666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및 </a:t>
            </a:r>
            <a:r>
              <a:rPr lang="en-US" sz="2666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구체화</a:t>
            </a:r>
            <a:endParaRPr lang="en-US" sz="2666" b="0" i="0" u="none" strike="noStrike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2461009" y="806450"/>
            <a:ext cx="14859000" cy="4495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1" indent="-342900" algn="l">
              <a:lnSpc>
                <a:spcPct val="131140"/>
              </a:lnSpc>
              <a:buClr>
                <a:srgbClr val="000000"/>
              </a:buClr>
              <a:buFont typeface="Arial"/>
              <a:buChar char="●"/>
            </a:pPr>
            <a:r>
              <a:rPr lang="en-US" sz="3066" b="0" i="0" u="none" strike="noStrike" spc="-100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1~2주차 : </a:t>
            </a:r>
            <a:r>
              <a:rPr lang="en-US" sz="3066" b="0" i="0" u="none" strike="noStrike" spc="-100" dirty="0" err="1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기획</a:t>
            </a:r>
            <a:r>
              <a:rPr lang="en-US" sz="3066" b="0" i="0" u="none" strike="noStrike" spc="-100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및 UI/UX </a:t>
            </a:r>
            <a:r>
              <a:rPr lang="en-US" sz="3066" b="0" i="0" u="none" strike="noStrike" spc="-100" dirty="0" err="1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설계</a:t>
            </a:r>
            <a:endParaRPr lang="en-US" sz="3066" b="0" i="0" u="none" strike="noStrike" spc="-100" dirty="0">
              <a:solidFill>
                <a:srgbClr val="00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lvl="0" algn="l">
              <a:lnSpc>
                <a:spcPct val="131140"/>
              </a:lnSpc>
            </a:pPr>
            <a:r>
              <a:rPr lang="en-US" sz="3066" b="0" i="0" u="none" strike="noStrike" spc="-100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                    : </a:t>
            </a:r>
            <a:r>
              <a:rPr lang="en-US" sz="3066" b="0" i="0" u="none" strike="noStrike" spc="-100" dirty="0" err="1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아이디어</a:t>
            </a:r>
            <a:r>
              <a:rPr lang="en-US" sz="3066" b="0" i="0" u="none" strike="noStrike" spc="-100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3066" b="0" i="0" u="none" strike="noStrike" spc="-100" dirty="0" err="1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구체화</a:t>
            </a:r>
            <a:r>
              <a:rPr lang="en-US" sz="3066" b="0" i="0" u="none" strike="noStrike" spc="-100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Figma </a:t>
            </a:r>
            <a:r>
              <a:rPr lang="en-US" sz="3066" b="0" i="0" u="none" strike="noStrike" spc="-100" dirty="0" err="1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기반</a:t>
            </a:r>
            <a:r>
              <a:rPr lang="en-US" sz="3066" b="0" i="0" u="none" strike="noStrike" spc="-100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3066" b="0" i="0" u="none" strike="noStrike" spc="-100" dirty="0" err="1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와이어프레임</a:t>
            </a:r>
            <a:r>
              <a:rPr lang="en-US" sz="3066" b="0" i="0" u="none" strike="noStrike" spc="-100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3066" b="0" i="0" u="none" strike="noStrike" spc="-100" dirty="0" err="1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설계</a:t>
            </a:r>
            <a:r>
              <a:rPr lang="en-US" sz="3066" b="0" i="0" u="none" strike="noStrike" spc="-100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 </a:t>
            </a:r>
            <a:r>
              <a:rPr lang="en-US" sz="3066" b="0" i="0" u="none" strike="noStrike" spc="-100" dirty="0" err="1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디자인</a:t>
            </a:r>
            <a:r>
              <a:rPr lang="en-US" sz="3066" b="0" i="0" u="none" strike="noStrike" spc="-100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3066" b="0" i="0" u="none" strike="noStrike" spc="-100" dirty="0" err="1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시스템</a:t>
            </a:r>
            <a:r>
              <a:rPr lang="en-US" sz="3066" b="0" i="0" u="none" strike="noStrike" spc="-100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3066" b="0" i="0" u="none" strike="noStrike" spc="-100" dirty="0" err="1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확정</a:t>
            </a:r>
            <a:endParaRPr lang="en-US" sz="3066" b="0" i="0" u="none" strike="noStrike" spc="-100" dirty="0">
              <a:solidFill>
                <a:srgbClr val="00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lvl="0" algn="l">
              <a:lnSpc>
                <a:spcPct val="131140"/>
              </a:lnSpc>
            </a:pPr>
            <a:endParaRPr lang="en-US" sz="3066" b="0" i="0" u="none" strike="noStrike" spc="-100" dirty="0">
              <a:solidFill>
                <a:srgbClr val="00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342900" lvl="1" indent="-342900" algn="l">
              <a:lnSpc>
                <a:spcPct val="131140"/>
              </a:lnSpc>
              <a:buClr>
                <a:srgbClr val="000000"/>
              </a:buClr>
              <a:buFont typeface="Arial"/>
              <a:buChar char="●"/>
            </a:pPr>
            <a:r>
              <a:rPr lang="en-US" sz="3066" b="0" i="0" u="none" strike="noStrike" spc="-100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3~5주차 : </a:t>
            </a:r>
            <a:r>
              <a:rPr lang="en-US" sz="3066" b="0" i="0" u="none" strike="noStrike" spc="-100" dirty="0" err="1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개별</a:t>
            </a:r>
            <a:r>
              <a:rPr lang="en-US" sz="3066" b="0" i="0" u="none" strike="noStrike" spc="-100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3066" b="0" i="0" u="none" strike="noStrike" spc="-100" dirty="0" err="1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기능</a:t>
            </a:r>
            <a:r>
              <a:rPr lang="en-US" sz="3066" b="0" i="0" u="none" strike="noStrike" spc="-100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3066" b="0" i="0" u="none" strike="noStrike" spc="-100" dirty="0" err="1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구현</a:t>
            </a:r>
            <a:r>
              <a:rPr lang="en-US" sz="3066" b="0" i="0" u="none" strike="noStrike" spc="-100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및 </a:t>
            </a:r>
            <a:r>
              <a:rPr lang="en-US" sz="3066" b="0" i="0" u="none" strike="noStrike" spc="-100" dirty="0" err="1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알고리즘</a:t>
            </a:r>
            <a:r>
              <a:rPr lang="en-US" sz="3066" b="0" i="0" u="none" strike="noStrike" spc="-100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3066" b="0" i="0" u="none" strike="noStrike" spc="-100" dirty="0" err="1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튜닝</a:t>
            </a:r>
            <a:endParaRPr lang="en-US" sz="3066" b="0" i="0" u="none" strike="noStrike" spc="-100" dirty="0">
              <a:solidFill>
                <a:srgbClr val="00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lvl="0" algn="l">
              <a:lnSpc>
                <a:spcPct val="131140"/>
              </a:lnSpc>
            </a:pPr>
            <a:r>
              <a:rPr lang="en-US" sz="3066" b="0" i="0" u="none" strike="noStrike" spc="-100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                       : </a:t>
            </a:r>
            <a:r>
              <a:rPr lang="en-US" sz="3066" b="0" i="0" u="none" strike="noStrike" spc="-100" dirty="0" err="1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ARCore</a:t>
            </a:r>
            <a:r>
              <a:rPr lang="en-US" sz="3066" b="0" i="0" u="none" strike="noStrike" spc="-100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3066" b="0" i="0" u="none" strike="noStrike" spc="-100" dirty="0" err="1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엔진</a:t>
            </a:r>
            <a:r>
              <a:rPr lang="en-US" sz="3066" b="0" i="0" u="none" strike="noStrike" spc="-100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3066" b="0" i="0" u="none" strike="noStrike" spc="-100" dirty="0" err="1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연동</a:t>
            </a:r>
            <a:r>
              <a:rPr lang="en-US" sz="3066" b="0" i="0" u="none" strike="noStrike" spc="-100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en-US" sz="3066" b="0" i="0" u="none" strike="noStrike" spc="-100" dirty="0" err="1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자기장</a:t>
            </a:r>
            <a:r>
              <a:rPr lang="en-US" sz="3066" b="0" i="0" u="none" strike="noStrike" spc="-100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및 </a:t>
            </a:r>
            <a:r>
              <a:rPr lang="en-US" sz="3066" b="0" i="0" u="none" strike="noStrike" spc="-100" dirty="0" err="1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가속도</a:t>
            </a:r>
            <a:r>
              <a:rPr lang="en-US" sz="3066" b="0" i="0" u="none" strike="noStrike" spc="-100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3066" b="0" i="0" u="none" strike="noStrike" spc="-100" dirty="0" err="1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센서</a:t>
            </a:r>
            <a:r>
              <a:rPr lang="en-US" sz="3066" b="0" i="0" u="none" strike="noStrike" spc="-100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3066" b="0" i="0" u="none" strike="noStrike" spc="-100" dirty="0" err="1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수집</a:t>
            </a:r>
            <a:r>
              <a:rPr lang="en-US" sz="3066" b="0" i="0" u="none" strike="noStrike" spc="-100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3066" b="0" i="0" u="none" strike="noStrike" spc="-100" dirty="0" err="1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로직</a:t>
            </a:r>
            <a:r>
              <a:rPr lang="en-US" sz="3066" b="0" i="0" u="none" strike="noStrike" spc="-100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3066" b="0" i="0" u="none" strike="noStrike" spc="-100" dirty="0" err="1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구현</a:t>
            </a:r>
            <a:endParaRPr lang="en-US" sz="3066" b="0" i="0" u="none" strike="noStrike" spc="-100" dirty="0">
              <a:solidFill>
                <a:srgbClr val="00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lvl="0" algn="l">
              <a:lnSpc>
                <a:spcPct val="131140"/>
              </a:lnSpc>
            </a:pPr>
            <a:endParaRPr lang="en-US" sz="3066" b="0" i="0" u="none" strike="noStrike" spc="-100" dirty="0">
              <a:solidFill>
                <a:srgbClr val="00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342900" lvl="1" indent="-342900" algn="l">
              <a:lnSpc>
                <a:spcPct val="131140"/>
              </a:lnSpc>
              <a:buClr>
                <a:srgbClr val="000000"/>
              </a:buClr>
              <a:buFont typeface="Arial"/>
              <a:buChar char="●"/>
            </a:pPr>
            <a:r>
              <a:rPr lang="en-US" sz="3066" b="0" i="0" u="none" strike="noStrike" spc="-100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6주차 : </a:t>
            </a:r>
            <a:r>
              <a:rPr lang="en-US" sz="3066" b="0" i="0" u="none" strike="noStrike" spc="-100" dirty="0" err="1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통합</a:t>
            </a:r>
            <a:r>
              <a:rPr lang="en-US" sz="3066" b="0" i="0" u="none" strike="noStrike" spc="-100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3066" b="0" i="0" u="none" strike="noStrike" spc="-100" dirty="0" err="1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빌드</a:t>
            </a:r>
            <a:r>
              <a:rPr lang="en-US" sz="3066" b="0" i="0" u="none" strike="noStrike" spc="-100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및 </a:t>
            </a:r>
            <a:r>
              <a:rPr lang="en-US" sz="3066" b="0" i="0" u="none" strike="noStrike" spc="-100" dirty="0" err="1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필드</a:t>
            </a:r>
            <a:r>
              <a:rPr lang="en-US" sz="3066" b="0" i="0" u="none" strike="noStrike" spc="-100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3066" b="0" i="0" u="none" strike="noStrike" spc="-100" dirty="0" err="1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테스트</a:t>
            </a:r>
            <a:endParaRPr lang="en-US" sz="3066" b="0" i="0" u="none" strike="noStrike" spc="-100" dirty="0">
              <a:solidFill>
                <a:srgbClr val="00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-838200" y="-736600"/>
            <a:ext cx="6985000" cy="15506700"/>
          </a:xfrm>
          <a:prstGeom prst="rect">
            <a:avLst/>
          </a:prstGeom>
          <a:effectLst>
            <a:outerShdw blurRad="314489" dist="53759" dir="2700000">
              <a:srgbClr val="256BFF">
                <a:alpha val="15000"/>
              </a:srgbClr>
            </a:outerShdw>
          </a:effectLst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1800" y="1193800"/>
            <a:ext cx="17424400" cy="45339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889000" y="977900"/>
            <a:ext cx="4025900" cy="952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5333" b="0" i="0" u="none" strike="noStrike">
                <a:solidFill>
                  <a:srgbClr val="4E4E4E"/>
                </a:solidFill>
                <a:latin typeface="Pretendard Bold"/>
                <a:ea typeface="Pretendard Bold"/>
                <a:cs typeface="Pretendard Bold"/>
              </a:rPr>
              <a:t>개발과정(2)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>
            <a:alphaModFix amt="80000"/>
          </a:blip>
          <a:stretch>
            <a:fillRect/>
          </a:stretch>
        </p:blipFill>
        <p:spPr>
          <a:xfrm>
            <a:off x="7073900" y="8039100"/>
            <a:ext cx="23507700" cy="4978400"/>
          </a:xfrm>
          <a:prstGeom prst="rect">
            <a:avLst/>
          </a:prstGeom>
          <a:effectLst>
            <a:outerShdw blurRad="224125" dist="38312" dir="2700000">
              <a:srgbClr val="256BFF">
                <a:alpha val="15000"/>
              </a:srgbClr>
            </a:outerShdw>
          </a:effectLst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0800000">
            <a:off x="7721600" y="7023100"/>
            <a:ext cx="6286500" cy="14986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0800000">
            <a:off x="7543800" y="7251700"/>
            <a:ext cx="5461000" cy="12827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7480300" y="7556500"/>
            <a:ext cx="5842000" cy="685800"/>
          </a:xfrm>
          <a:prstGeom prst="rect">
            <a:avLst/>
          </a:prstGeom>
        </p:spPr>
        <p:txBody>
          <a:bodyPr lIns="0" tIns="44027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3600" b="0" i="0" u="none" strike="noStrike" dirty="0" err="1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테스트</a:t>
            </a:r>
            <a:r>
              <a:rPr lang="en-US" sz="3600" b="0" i="0" u="none" strike="noStrike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sz="3600" b="0" i="0" u="none" strike="noStrike" dirty="0" err="1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또는</a:t>
            </a:r>
            <a:r>
              <a:rPr lang="en-US" sz="3600" b="0" i="0" u="none" strike="noStrike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sz="3600" b="0" i="0" u="none" strike="noStrike" dirty="0" err="1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검증</a:t>
            </a:r>
            <a:r>
              <a:rPr lang="en-US" sz="3600" b="0" i="0" u="none" strike="noStrike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sz="3600" b="0" i="0" u="none" strike="noStrike" dirty="0" err="1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과정</a:t>
            </a:r>
            <a:r>
              <a:rPr lang="en-US" sz="3600" b="0" i="0" u="none" strike="noStrike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 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518400" y="8267700"/>
            <a:ext cx="16687800" cy="2311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32800"/>
              </a:lnSpc>
            </a:pPr>
            <a:r>
              <a:rPr lang="en-US" sz="2933" b="0" i="0" u="none" strike="noStrike" spc="-10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
</a:t>
            </a:r>
            <a:r>
              <a:rPr lang="en-US" sz="2933" b="0" i="0" u="none" strike="noStrike" spc="-10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가상</a:t>
            </a:r>
            <a:r>
              <a:rPr lang="en-US" sz="2933" b="0" i="0" u="none" strike="noStrike" spc="-10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933" b="0" i="0" u="none" strike="noStrike" spc="-10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에뮬레이터</a:t>
            </a:r>
            <a:r>
              <a:rPr lang="en-US" sz="2933" b="0" i="0" u="none" strike="noStrike" spc="-10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933" b="0" i="0" u="none" strike="noStrike" spc="-10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환경에</a:t>
            </a:r>
            <a:r>
              <a:rPr lang="en-US" sz="2933" b="0" i="0" u="none" strike="noStrike" spc="-10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933" b="0" i="0" u="none" strike="noStrike" spc="-10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의존하지</a:t>
            </a:r>
            <a:r>
              <a:rPr lang="en-US" sz="2933" b="0" i="0" u="none" strike="noStrike" spc="-10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933" b="0" i="0" u="none" strike="noStrike" spc="-10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않고</a:t>
            </a:r>
            <a:r>
              <a:rPr lang="en-US" sz="2933" b="0" i="0" u="none" strike="noStrike" spc="-10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933" b="0" i="0" u="none" strike="noStrike" spc="-10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안드로이드</a:t>
            </a:r>
            <a:r>
              <a:rPr lang="en-US" sz="2933" b="0" i="0" u="none" strike="noStrike" spc="-10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933" b="0" i="0" u="none" strike="noStrike" spc="-10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실제</a:t>
            </a:r>
            <a:r>
              <a:rPr lang="en-US" sz="2933" b="0" i="0" u="none" strike="noStrike" spc="-10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933" b="0" i="0" u="none" strike="noStrike" spc="-10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디바이스에</a:t>
            </a:r>
            <a:r>
              <a:rPr lang="en-US" sz="2933" b="0" i="0" u="none" strike="noStrike" spc="-10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933" b="0" i="0" u="none" strike="noStrike" spc="-10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어플리케이션을</a:t>
            </a:r>
            <a:r>
              <a:rPr lang="en-US" sz="2933" b="0" i="0" u="none" strike="noStrike" spc="-10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933" b="0" i="0" u="none" strike="noStrike" spc="-10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직접</a:t>
            </a:r>
            <a:r>
              <a:rPr lang="en-US" sz="2933" b="0" i="0" u="none" strike="noStrike" spc="-10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933" b="0" i="0" u="none" strike="noStrike" spc="-10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통합</a:t>
            </a:r>
            <a:r>
              <a:rPr lang="en-US" sz="2933" b="0" i="0" u="none" strike="noStrike" spc="-10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933" b="0" i="0" u="none" strike="noStrike" spc="-10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빌드하여</a:t>
            </a:r>
            <a:r>
              <a:rPr lang="en-US" sz="2933" b="0" i="0" u="none" strike="noStrike" spc="-10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933" b="0" i="0" u="none" strike="noStrike" spc="-10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필드</a:t>
            </a:r>
            <a:r>
              <a:rPr lang="en-US" sz="2933" b="0" i="0" u="none" strike="noStrike" spc="-10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933" b="0" i="0" u="none" strike="noStrike" spc="-10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테스트</a:t>
            </a:r>
            <a:r>
              <a:rPr lang="en-US" sz="2933" b="0" i="0" u="none" strike="noStrike" spc="-10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933" b="0" i="0" u="none" strike="noStrike" spc="-10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수행</a:t>
            </a:r>
            <a:endParaRPr lang="en-US" sz="2933" b="0" i="0" u="none" strike="noStrike" spc="-100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7543800" y="8877300"/>
            <a:ext cx="11099800" cy="546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066" b="0" i="0" u="none" strike="noStrike">
                <a:solidFill>
                  <a:srgbClr val="256BFF"/>
                </a:solidFill>
                <a:latin typeface="Pretendard Bold"/>
                <a:ea typeface="Pretendard Bold"/>
                <a:cs typeface="Pretendard Bold"/>
              </a:rPr>
              <a:t>실제 기기 기반의 환경 검증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505700" y="10756900"/>
            <a:ext cx="11099800" cy="546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066" b="0" i="0" u="none" strike="noStrike">
                <a:solidFill>
                  <a:srgbClr val="256BFF"/>
                </a:solidFill>
                <a:latin typeface="Pretendard Bold"/>
                <a:ea typeface="Pretendard Bold"/>
                <a:cs typeface="Pretendard Bold"/>
              </a:rPr>
              <a:t>테스트 결과 (검증 성공)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505700" y="11468100"/>
            <a:ext cx="16459200" cy="1117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32800"/>
              </a:lnSpc>
            </a:pPr>
            <a:r>
              <a:rPr lang="en-US" sz="2933" b="0" i="0" u="none" strike="noStrike" spc="-10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실제</a:t>
            </a:r>
            <a:r>
              <a:rPr lang="en-US" sz="2933" b="0" i="0" u="none" strike="noStrike" spc="-10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933" b="0" i="0" u="none" strike="noStrike" spc="-10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벽면에</a:t>
            </a:r>
            <a:r>
              <a:rPr lang="en-US" sz="2933" b="0" i="0" u="none" strike="noStrike" spc="-10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933" b="0" i="0" u="none" strike="noStrike" spc="-10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기기를</a:t>
            </a:r>
            <a:r>
              <a:rPr lang="en-US" sz="2933" b="0" i="0" u="none" strike="noStrike" spc="-10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933" b="0" i="0" u="none" strike="noStrike" spc="-10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밀착시켜</a:t>
            </a:r>
            <a:r>
              <a:rPr lang="en-US" sz="2933" b="0" i="0" u="none" strike="noStrike" spc="-10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933" b="0" i="0" u="none" strike="noStrike" spc="-10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구동한</a:t>
            </a:r>
            <a:r>
              <a:rPr lang="en-US" sz="2933" b="0" i="0" u="none" strike="noStrike" spc="-10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933" b="0" i="0" u="none" strike="noStrike" spc="-10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결과</a:t>
            </a:r>
            <a:r>
              <a:rPr lang="en-US" sz="2933" b="0" i="0" u="none" strike="noStrike" spc="-10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933" b="0" i="0" u="none" strike="noStrike" spc="-10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주변</a:t>
            </a:r>
            <a:r>
              <a:rPr lang="en-US" sz="2933" b="0" i="0" u="none" strike="noStrike" spc="-10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933" b="0" i="0" u="none" strike="noStrike" spc="-10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가전의</a:t>
            </a:r>
            <a:r>
              <a:rPr lang="en-US" sz="2933" b="0" i="0" u="none" strike="noStrike" spc="-10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933" b="0" i="0" u="none" strike="noStrike" spc="-10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미세</a:t>
            </a:r>
            <a:r>
              <a:rPr lang="en-US" sz="2933" b="0" i="0" u="none" strike="noStrike" spc="-10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933" b="0" i="0" u="none" strike="noStrike" spc="-10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자기장</a:t>
            </a:r>
            <a:r>
              <a:rPr lang="en-US" sz="2933" b="0" i="0" u="none" strike="noStrike" spc="-10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933" b="0" i="0" u="none" strike="noStrike" spc="-10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간섭</a:t>
            </a:r>
            <a:r>
              <a:rPr lang="en-US" sz="2933" b="0" i="0" u="none" strike="noStrike" spc="-10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933" b="0" i="0" u="none" strike="noStrike" spc="-10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속에서도</a:t>
            </a:r>
            <a:r>
              <a:rPr lang="en-US" sz="2933" b="0" i="0" u="none" strike="noStrike" spc="-10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933" b="0" i="0" u="none" strike="noStrike" spc="-10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ARCore</a:t>
            </a:r>
            <a:r>
              <a:rPr lang="en-US" sz="2933" b="0" i="0" u="none" strike="noStrike" spc="-10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3D </a:t>
            </a:r>
            <a:r>
              <a:rPr lang="en-US" sz="2933" b="0" i="0" u="none" strike="noStrike" spc="-10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벡터</a:t>
            </a:r>
            <a:r>
              <a:rPr lang="en-US" sz="2933" b="0" i="0" u="none" strike="noStrike" spc="-10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933" b="0" i="0" u="none" strike="noStrike" spc="-10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라인이</a:t>
            </a:r>
            <a:r>
              <a:rPr lang="en-US" sz="2933" b="0" i="0" u="none" strike="noStrike" spc="-10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933" b="0" i="0" u="none" strike="noStrike" spc="-10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안정적으로</a:t>
            </a:r>
            <a:r>
              <a:rPr lang="en-US" sz="2933" b="0" i="0" u="none" strike="noStrike" spc="-10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933" b="0" i="0" u="none" strike="noStrike" spc="-10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랜더링되는</a:t>
            </a:r>
            <a:r>
              <a:rPr lang="en-US" sz="2933" b="0" i="0" u="none" strike="noStrike" spc="-10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933" b="0" i="0" u="none" strike="noStrike" spc="-10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것을</a:t>
            </a:r>
            <a:r>
              <a:rPr lang="en-US" sz="2933" b="0" i="0" u="none" strike="noStrike" spc="-10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933" b="0" i="0" u="none" strike="noStrike" spc="-10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확인</a:t>
            </a:r>
            <a:r>
              <a:rPr lang="en-US" sz="2933" b="0" i="0" u="none" strike="noStrike" spc="-10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 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876300"/>
            <a:ext cx="22491700" cy="11950700"/>
          </a:xfrm>
          <a:prstGeom prst="rect">
            <a:avLst/>
          </a:prstGeom>
          <a:effectLst>
            <a:outerShdw blurRad="597747" dir="4080000">
              <a:srgbClr val="8FD0FE">
                <a:alpha val="30000"/>
              </a:srgbClr>
            </a:outerShdw>
          </a:effectLst>
        </p:spPr>
      </p:pic>
      <p:sp>
        <p:nvSpPr>
          <p:cNvPr id="3" name="TextBox 3"/>
          <p:cNvSpPr txBox="1"/>
          <p:nvPr/>
        </p:nvSpPr>
        <p:spPr>
          <a:xfrm>
            <a:off x="1739900" y="2302273"/>
            <a:ext cx="14757400" cy="83304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800" b="0" i="0" u="none" strike="noStrike" spc="-300" dirty="0" err="1">
                <a:solidFill>
                  <a:srgbClr val="222222"/>
                </a:solidFill>
                <a:latin typeface="Pretendard SemiBold"/>
                <a:ea typeface="Pretendard SemiBold"/>
                <a:cs typeface="Pretendard SemiBold"/>
              </a:rPr>
              <a:t>핵심</a:t>
            </a:r>
            <a:r>
              <a:rPr lang="en-US" sz="4800" b="0" i="0" u="none" strike="noStrike" spc="-300" dirty="0">
                <a:solidFill>
                  <a:srgbClr val="222222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4800" b="0" i="0" u="none" strike="noStrike" spc="-300" dirty="0" err="1">
                <a:solidFill>
                  <a:srgbClr val="222222"/>
                </a:solidFill>
                <a:latin typeface="Pretendard SemiBold"/>
                <a:ea typeface="Pretendard SemiBold"/>
                <a:cs typeface="Pretendard SemiBold"/>
              </a:rPr>
              <a:t>기능</a:t>
            </a:r>
            <a:r>
              <a:rPr lang="en-US" sz="4800" b="0" i="0" u="none" strike="noStrike" spc="-300" dirty="0">
                <a:solidFill>
                  <a:srgbClr val="222222"/>
                </a:solidFill>
                <a:latin typeface="Pretendard SemiBold"/>
                <a:ea typeface="Pretendard SemiBold"/>
                <a:cs typeface="Pretendard SemiBold"/>
              </a:rPr>
              <a:t> 1 : </a:t>
            </a:r>
            <a:r>
              <a:rPr lang="en-US" sz="4800" b="0" i="0" u="none" strike="noStrike" spc="-300" dirty="0" err="1">
                <a:solidFill>
                  <a:srgbClr val="222222"/>
                </a:solidFill>
                <a:latin typeface="Pretendard SemiBold"/>
                <a:ea typeface="Pretendard SemiBold"/>
                <a:cs typeface="Pretendard SemiBold"/>
              </a:rPr>
              <a:t>카메라</a:t>
            </a:r>
            <a:r>
              <a:rPr lang="en-US" sz="4800" b="0" i="0" u="none" strike="noStrike" spc="-300" dirty="0">
                <a:solidFill>
                  <a:srgbClr val="222222"/>
                </a:solidFill>
                <a:latin typeface="Pretendard SemiBold"/>
                <a:ea typeface="Pretendard SemiBold"/>
                <a:cs typeface="Pretendard SemiBold"/>
              </a:rPr>
              <a:t> AR </a:t>
            </a:r>
            <a:r>
              <a:rPr lang="en-US" sz="4800" b="0" i="0" u="none" strike="noStrike" spc="-300" dirty="0" err="1">
                <a:solidFill>
                  <a:srgbClr val="222222"/>
                </a:solidFill>
                <a:latin typeface="Pretendard SemiBold"/>
                <a:ea typeface="Pretendard SemiBold"/>
                <a:cs typeface="Pretendard SemiBold"/>
              </a:rPr>
              <a:t>기반</a:t>
            </a:r>
            <a:r>
              <a:rPr lang="en-US" sz="4800" b="0" i="0" u="none" strike="noStrike" spc="-300" dirty="0">
                <a:solidFill>
                  <a:srgbClr val="222222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4800" b="0" i="0" u="none" strike="noStrike" spc="-300" dirty="0" err="1">
                <a:solidFill>
                  <a:srgbClr val="222222"/>
                </a:solidFill>
                <a:latin typeface="Pretendard SemiBold"/>
                <a:ea typeface="Pretendard SemiBold"/>
                <a:cs typeface="Pretendard SemiBold"/>
              </a:rPr>
              <a:t>전선</a:t>
            </a:r>
            <a:r>
              <a:rPr lang="en-US" sz="4800" b="0" i="0" u="none" strike="noStrike" spc="-300" dirty="0">
                <a:solidFill>
                  <a:srgbClr val="222222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4800" b="0" i="0" u="none" strike="noStrike" spc="-300" dirty="0" err="1">
                <a:solidFill>
                  <a:srgbClr val="222222"/>
                </a:solidFill>
                <a:latin typeface="Pretendard SemiBold"/>
                <a:ea typeface="Pretendard SemiBold"/>
                <a:cs typeface="Pretendard SemiBold"/>
              </a:rPr>
              <a:t>탐지</a:t>
            </a:r>
            <a:endParaRPr lang="en-US" sz="4800" b="0" i="0" u="none" strike="noStrike" spc="-300" dirty="0">
              <a:solidFill>
                <a:srgbClr val="222222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A3A48C94-5DD8-D42B-DE35-7850ED2C3BEE}"/>
              </a:ext>
            </a:extLst>
          </p:cNvPr>
          <p:cNvGrpSpPr/>
          <p:nvPr/>
        </p:nvGrpSpPr>
        <p:grpSpPr>
          <a:xfrm>
            <a:off x="8293100" y="3352944"/>
            <a:ext cx="10325100" cy="3457448"/>
            <a:chOff x="8293100" y="4165600"/>
            <a:chExt cx="10325100" cy="2885948"/>
          </a:xfrm>
        </p:grpSpPr>
        <p:pic>
          <p:nvPicPr>
            <p:cNvPr id="4" name="Picture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293100" y="4165600"/>
              <a:ext cx="10325100" cy="2692400"/>
            </a:xfrm>
            <a:prstGeom prst="rect">
              <a:avLst/>
            </a:prstGeom>
          </p:spPr>
        </p:pic>
        <p:sp>
          <p:nvSpPr>
            <p:cNvPr id="5" name="TextBox 5"/>
            <p:cNvSpPr txBox="1"/>
            <p:nvPr/>
          </p:nvSpPr>
          <p:spPr>
            <a:xfrm>
              <a:off x="8349742" y="4347258"/>
              <a:ext cx="4915408" cy="66937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ctr">
                <a:lnSpc>
                  <a:spcPct val="120350"/>
                </a:lnSpc>
              </a:pPr>
              <a:r>
                <a:rPr lang="en-US" sz="3733" b="0" i="0" u="none" strike="noStrike" spc="-200" dirty="0">
                  <a:solidFill>
                    <a:srgbClr val="222222"/>
                  </a:solidFill>
                  <a:latin typeface="Pretendard SemiBold"/>
                  <a:ea typeface="Pretendard SemiBold"/>
                  <a:cs typeface="Pretendard SemiBold"/>
                </a:rPr>
                <a:t>3D </a:t>
              </a:r>
              <a:r>
                <a:rPr lang="en-US" sz="3733" b="0" i="0" u="none" strike="noStrike" spc="-200" dirty="0" err="1">
                  <a:solidFill>
                    <a:srgbClr val="222222"/>
                  </a:solidFill>
                  <a:latin typeface="Pretendard SemiBold"/>
                  <a:ea typeface="Pretendard SemiBold"/>
                  <a:cs typeface="Pretendard SemiBold"/>
                </a:rPr>
                <a:t>공간</a:t>
              </a:r>
              <a:r>
                <a:rPr lang="en-US" sz="3733" b="0" i="0" u="none" strike="noStrike" spc="-200" dirty="0">
                  <a:solidFill>
                    <a:srgbClr val="222222"/>
                  </a:solidFill>
                  <a:latin typeface="Pretendard SemiBold"/>
                  <a:ea typeface="Pretendard SemiBold"/>
                  <a:cs typeface="Pretendard SemiBold"/>
                </a:rPr>
                <a:t> </a:t>
              </a:r>
              <a:r>
                <a:rPr lang="en-US" sz="3733" b="0" i="0" u="none" strike="noStrike" spc="-200" dirty="0" err="1">
                  <a:solidFill>
                    <a:srgbClr val="222222"/>
                  </a:solidFill>
                  <a:latin typeface="Pretendard SemiBold"/>
                  <a:ea typeface="Pretendard SemiBold"/>
                  <a:cs typeface="Pretendard SemiBold"/>
                </a:rPr>
                <a:t>앵커링</a:t>
              </a:r>
              <a:r>
                <a:rPr lang="en-US" sz="3733" b="0" i="0" u="none" strike="noStrike" spc="-200" dirty="0">
                  <a:solidFill>
                    <a:srgbClr val="222222"/>
                  </a:solidFill>
                  <a:latin typeface="Pretendard SemiBold"/>
                  <a:ea typeface="Pretendard SemiBold"/>
                  <a:cs typeface="Pretendard SemiBold"/>
                </a:rPr>
                <a:t> </a:t>
              </a:r>
              <a:r>
                <a:rPr lang="ko-KR" altLang="en-US" sz="3733" b="0" i="0" u="none" strike="noStrike" spc="-200" dirty="0">
                  <a:solidFill>
                    <a:srgbClr val="222222"/>
                  </a:solidFill>
                  <a:latin typeface="Pretendard SemiBold"/>
                  <a:ea typeface="Pretendard SemiBold"/>
                  <a:cs typeface="Pretendard SemiBold"/>
                </a:rPr>
                <a:t>및 시각화</a:t>
              </a:r>
              <a:r>
                <a:rPr lang="en-US" sz="3733" b="0" i="0" u="none" strike="noStrike" spc="-200" dirty="0">
                  <a:solidFill>
                    <a:srgbClr val="222222"/>
                  </a:solidFill>
                  <a:latin typeface="Pretendard SemiBold"/>
                  <a:ea typeface="Pretendard SemiBold"/>
                  <a:cs typeface="Pretendard SemiBold"/>
                </a:rPr>
                <a:t>
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8763000" y="5057648"/>
              <a:ext cx="9690100" cy="19939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l">
                <a:lnSpc>
                  <a:spcPct val="132800"/>
                </a:lnSpc>
              </a:pPr>
              <a:r>
                <a:rPr lang="en-US" sz="3199" b="0" i="0" u="none" strike="noStrike" spc="-200" dirty="0" err="1">
                  <a:solidFill>
                    <a:srgbClr val="595959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ARCore</a:t>
              </a:r>
              <a:r>
                <a:rPr lang="en-US" sz="3199" b="0" i="0" u="none" strike="noStrike" spc="-200" dirty="0">
                  <a:solidFill>
                    <a:srgbClr val="595959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 </a:t>
              </a:r>
              <a:r>
                <a:rPr lang="en-US" sz="3199" b="0" i="0" u="none" strike="noStrike" spc="-200" dirty="0" err="1">
                  <a:solidFill>
                    <a:srgbClr val="595959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엔진</a:t>
              </a:r>
              <a:r>
                <a:rPr lang="en-US" sz="3199" b="0" i="0" u="none" strike="noStrike" spc="-200" dirty="0">
                  <a:solidFill>
                    <a:srgbClr val="595959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 </a:t>
              </a:r>
              <a:r>
                <a:rPr lang="ko-KR" altLang="en-US" sz="3199" b="0" i="0" u="none" strike="noStrike" spc="-200" dirty="0">
                  <a:solidFill>
                    <a:srgbClr val="595959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이용</a:t>
              </a:r>
              <a:r>
                <a:rPr lang="en-US" altLang="ko-KR" sz="3199" b="0" i="0" u="none" strike="noStrike" spc="-200" dirty="0">
                  <a:solidFill>
                    <a:srgbClr val="595959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, </a:t>
              </a:r>
              <a:r>
                <a:rPr lang="ko-KR" altLang="en-US" sz="3199" b="0" i="0" u="none" strike="noStrike" spc="-200" dirty="0">
                  <a:solidFill>
                    <a:srgbClr val="595959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지자기 센서 값을 이용해</a:t>
              </a:r>
              <a:r>
                <a:rPr lang="en-US" sz="3199" b="0" i="0" u="none" strike="noStrike" spc="-200" dirty="0">
                  <a:solidFill>
                    <a:srgbClr val="595959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 </a:t>
              </a:r>
              <a:r>
                <a:rPr lang="ko-KR" altLang="en-US" sz="3199" spc="-200" dirty="0">
                  <a:solidFill>
                    <a:srgbClr val="595959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전선이 의심되는 위치의</a:t>
              </a:r>
              <a:r>
                <a:rPr lang="en-US" sz="3199" b="0" i="0" u="none" strike="noStrike" spc="-200" dirty="0">
                  <a:solidFill>
                    <a:srgbClr val="595959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 3D </a:t>
              </a:r>
              <a:r>
                <a:rPr lang="en-US" sz="3199" b="0" i="0" u="none" strike="noStrike" spc="-200" dirty="0" err="1">
                  <a:solidFill>
                    <a:srgbClr val="595959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좌표</a:t>
              </a:r>
              <a:r>
                <a:rPr lang="en-US" sz="3199" b="0" i="0" u="none" strike="noStrike" spc="-200" dirty="0">
                  <a:solidFill>
                    <a:srgbClr val="595959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(x, y, z) </a:t>
              </a:r>
              <a:r>
                <a:rPr lang="ko-KR" altLang="en-US" sz="3199" spc="-200" dirty="0">
                  <a:solidFill>
                    <a:srgbClr val="595959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연산 및 기록</a:t>
              </a:r>
              <a:r>
                <a:rPr lang="en-US" sz="3199" b="0" i="0" u="none" strike="noStrike" spc="-200" dirty="0">
                  <a:solidFill>
                    <a:srgbClr val="595959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 
-&gt; </a:t>
              </a:r>
              <a:r>
                <a:rPr lang="en-US" sz="3199" b="0" i="0" u="none" strike="noStrike" spc="-200" dirty="0" err="1">
                  <a:solidFill>
                    <a:srgbClr val="595959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스마트폰</a:t>
              </a:r>
              <a:r>
                <a:rPr lang="en-US" sz="3199" b="0" i="0" u="none" strike="noStrike" spc="-200" dirty="0">
                  <a:solidFill>
                    <a:srgbClr val="595959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 </a:t>
              </a:r>
              <a:r>
                <a:rPr lang="en-US" sz="3199" b="0" i="0" u="none" strike="noStrike" spc="-200" dirty="0" err="1">
                  <a:solidFill>
                    <a:srgbClr val="595959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이동</a:t>
              </a:r>
              <a:r>
                <a:rPr lang="ko-KR" altLang="en-US" sz="3199" spc="-200" dirty="0">
                  <a:solidFill>
                    <a:srgbClr val="595959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시 전선의 경로를 선으로 시각화</a:t>
              </a:r>
              <a:endParaRPr lang="en-US" sz="3199" b="0" i="0" u="none" strike="noStrike" spc="-200" dirty="0">
                <a:solidFill>
                  <a:srgbClr val="595959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C91CE061-EF67-A7FD-441D-2FE1F241B60C}"/>
              </a:ext>
            </a:extLst>
          </p:cNvPr>
          <p:cNvGrpSpPr/>
          <p:nvPr/>
        </p:nvGrpSpPr>
        <p:grpSpPr>
          <a:xfrm>
            <a:off x="8293100" y="6796147"/>
            <a:ext cx="10325100" cy="3225572"/>
            <a:chOff x="8356600" y="7251700"/>
            <a:chExt cx="10299700" cy="2921000"/>
          </a:xfrm>
        </p:grpSpPr>
        <p:pic>
          <p:nvPicPr>
            <p:cNvPr id="7" name="Picture 7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356600" y="7251700"/>
              <a:ext cx="10299700" cy="2921000"/>
            </a:xfrm>
            <a:prstGeom prst="rect">
              <a:avLst/>
            </a:prstGeom>
          </p:spPr>
        </p:pic>
        <p:sp>
          <p:nvSpPr>
            <p:cNvPr id="8" name="TextBox 8"/>
            <p:cNvSpPr txBox="1"/>
            <p:nvPr/>
          </p:nvSpPr>
          <p:spPr>
            <a:xfrm>
              <a:off x="8496300" y="7474483"/>
              <a:ext cx="5070602" cy="6604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ctr">
                <a:lnSpc>
                  <a:spcPct val="120350"/>
                </a:lnSpc>
              </a:pPr>
              <a:r>
                <a:rPr lang="ko-KR" altLang="en-US" sz="3733" b="0" i="0" u="none" strike="noStrike" spc="-200" dirty="0">
                  <a:solidFill>
                    <a:srgbClr val="222222"/>
                  </a:solidFill>
                  <a:latin typeface="Pretendard SemiBold"/>
                  <a:ea typeface="Pretendard SemiBold"/>
                  <a:cs typeface="Pretendard SemiBold"/>
                </a:rPr>
                <a:t>전선 </a:t>
              </a:r>
              <a:r>
                <a:rPr lang="ko-KR" altLang="en-US" sz="3733" spc="-200" dirty="0">
                  <a:solidFill>
                    <a:srgbClr val="222222"/>
                  </a:solidFill>
                  <a:latin typeface="Pretendard SemiBold"/>
                  <a:ea typeface="Pretendard SemiBold"/>
                  <a:cs typeface="Pretendard SemiBold"/>
                </a:rPr>
                <a:t>궤적</a:t>
              </a:r>
              <a:r>
                <a:rPr lang="ko-KR" altLang="en-US" sz="3733" b="0" i="0" u="none" strike="noStrike" spc="-200" dirty="0">
                  <a:solidFill>
                    <a:srgbClr val="222222"/>
                  </a:solidFill>
                  <a:latin typeface="Pretendard SemiBold"/>
                  <a:ea typeface="Pretendard SemiBold"/>
                  <a:cs typeface="Pretendard SemiBold"/>
                </a:rPr>
                <a:t> 안정화 필터 적용</a:t>
              </a:r>
              <a:endParaRPr lang="en-US" sz="3733" b="0" i="0" u="none" strike="noStrike" spc="-200" dirty="0">
                <a:solidFill>
                  <a:srgbClr val="222222"/>
                </a:solidFill>
                <a:latin typeface="Pretendard SemiBold"/>
                <a:ea typeface="Pretendard SemiBold"/>
                <a:cs typeface="Pretendard SemiBold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763000" y="8261278"/>
              <a:ext cx="9017000" cy="1673482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l">
                <a:lnSpc>
                  <a:spcPct val="132800"/>
                </a:lnSpc>
              </a:pPr>
              <a:r>
                <a:rPr lang="ko-KR" altLang="en-US" sz="3199" spc="-200" dirty="0" err="1">
                  <a:solidFill>
                    <a:srgbClr val="595959"/>
                  </a:solidFill>
                  <a:latin typeface="Pretendard Regular"/>
                  <a:ea typeface="Pretendard Regular"/>
                  <a:cs typeface="Pretendard Regular"/>
                </a:rPr>
                <a:t>손떨림이나</a:t>
              </a:r>
              <a:r>
                <a:rPr lang="ko-KR" altLang="en-US" sz="3199" spc="-200" dirty="0">
                  <a:solidFill>
                    <a:srgbClr val="595959"/>
                  </a:solidFill>
                  <a:latin typeface="Pretendard Regular"/>
                  <a:ea typeface="Pretendard Regular"/>
                  <a:cs typeface="Pretendard Regular"/>
                </a:rPr>
                <a:t> 급격한 자기장 값의 변화로 인해 전선이 튀지 않도록 직전 측정 값과 현재 측정값을 특정 비율로 합성</a:t>
              </a:r>
              <a:endParaRPr lang="en-US" altLang="ko-KR" sz="3199" spc="-200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endParaRPr>
            </a:p>
            <a:p>
              <a:pPr lvl="0" algn="l">
                <a:lnSpc>
                  <a:spcPct val="132800"/>
                </a:lnSpc>
              </a:pPr>
              <a:r>
                <a:rPr lang="en-US" sz="3199" b="0" i="0" u="none" strike="noStrike" spc="-200" dirty="0">
                  <a:solidFill>
                    <a:srgbClr val="595959"/>
                  </a:solidFill>
                  <a:latin typeface="Pretendard Regular"/>
                  <a:ea typeface="Pretendard Regular"/>
                  <a:cs typeface="Pretendard Regular"/>
                </a:rPr>
                <a:t>-&gt; </a:t>
              </a:r>
              <a:r>
                <a:rPr lang="ko-KR" altLang="en-US" sz="3199" b="0" i="0" u="none" strike="noStrike" spc="-200" dirty="0">
                  <a:solidFill>
                    <a:srgbClr val="595959"/>
                  </a:solidFill>
                  <a:latin typeface="Pretendard Regular"/>
                  <a:ea typeface="Pretendard Regular"/>
                  <a:cs typeface="Pretendard Regular"/>
                </a:rPr>
                <a:t>전선 궤적 생성 안정화</a:t>
              </a:r>
              <a:endParaRPr lang="en-US" sz="3199" b="0" i="0" u="none" strike="noStrike" spc="-200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endParaRPr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E2DC4FCD-3521-4BA5-60F0-9A4A9B45272A}"/>
              </a:ext>
            </a:extLst>
          </p:cNvPr>
          <p:cNvGrpSpPr/>
          <p:nvPr/>
        </p:nvGrpSpPr>
        <p:grpSpPr>
          <a:xfrm>
            <a:off x="18173700" y="3403600"/>
            <a:ext cx="5486400" cy="5486400"/>
            <a:chOff x="18173700" y="3403600"/>
            <a:chExt cx="5486400" cy="5486400"/>
          </a:xfrm>
        </p:grpSpPr>
        <p:pic>
          <p:nvPicPr>
            <p:cNvPr id="10" name="Picture 1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8173700" y="3403600"/>
              <a:ext cx="5486400" cy="5486400"/>
            </a:xfrm>
            <a:prstGeom prst="rect">
              <a:avLst/>
            </a:prstGeom>
          </p:spPr>
        </p:pic>
        <p:pic>
          <p:nvPicPr>
            <p:cNvPr id="11" name="Picture 11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1805900" y="7124700"/>
              <a:ext cx="1193800" cy="1193800"/>
            </a:xfrm>
            <a:prstGeom prst="rect">
              <a:avLst/>
            </a:prstGeom>
            <a:effectLst>
              <a:outerShdw blurRad="118773" dist="36545" dir="4560000">
                <a:srgbClr val="3C84FF">
                  <a:alpha val="25000"/>
                </a:srgbClr>
              </a:outerShdw>
            </a:effectLst>
          </p:spPr>
        </p:pic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85F449C0-57A4-E6BA-CBC5-E005DD70224B}"/>
              </a:ext>
            </a:extLst>
          </p:cNvPr>
          <p:cNvGrpSpPr/>
          <p:nvPr/>
        </p:nvGrpSpPr>
        <p:grpSpPr>
          <a:xfrm>
            <a:off x="8293100" y="10239350"/>
            <a:ext cx="11366500" cy="2409850"/>
            <a:chOff x="8356600" y="10464800"/>
            <a:chExt cx="11366500" cy="2057400"/>
          </a:xfrm>
        </p:grpSpPr>
        <p:pic>
          <p:nvPicPr>
            <p:cNvPr id="12" name="Picture 12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356600" y="10464800"/>
              <a:ext cx="11061700" cy="2057400"/>
            </a:xfrm>
            <a:prstGeom prst="rect">
              <a:avLst/>
            </a:prstGeom>
          </p:spPr>
        </p:pic>
        <p:sp>
          <p:nvSpPr>
            <p:cNvPr id="13" name="TextBox 13"/>
            <p:cNvSpPr txBox="1"/>
            <p:nvPr/>
          </p:nvSpPr>
          <p:spPr>
            <a:xfrm>
              <a:off x="8648700" y="10673369"/>
              <a:ext cx="3975100" cy="6604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ctr">
                <a:lnSpc>
                  <a:spcPct val="120350"/>
                </a:lnSpc>
              </a:pPr>
              <a:r>
                <a:rPr lang="ko-KR" altLang="en-US" sz="3733" b="0" i="0" u="none" strike="noStrike" spc="-200" dirty="0">
                  <a:solidFill>
                    <a:srgbClr val="222222"/>
                  </a:solidFill>
                  <a:latin typeface="Pretendard SemiBold"/>
                  <a:ea typeface="Pretendard SemiBold"/>
                  <a:cs typeface="Pretendard SemiBold"/>
                </a:rPr>
                <a:t>상대적 위치</a:t>
              </a:r>
              <a:r>
                <a:rPr lang="en-US" altLang="ko-KR" sz="3733" b="0" i="0" u="none" strike="noStrike" spc="-200" dirty="0">
                  <a:solidFill>
                    <a:srgbClr val="222222"/>
                  </a:solidFill>
                  <a:latin typeface="Pretendard SemiBold"/>
                  <a:ea typeface="Pretendard SemiBold"/>
                  <a:cs typeface="Pretendard SemiBold"/>
                </a:rPr>
                <a:t> </a:t>
              </a:r>
              <a:r>
                <a:rPr lang="ko-KR" altLang="en-US" sz="3733" spc="-200" dirty="0">
                  <a:solidFill>
                    <a:srgbClr val="222222"/>
                  </a:solidFill>
                  <a:latin typeface="Pretendard SemiBold"/>
                  <a:ea typeface="Pretendard SemiBold"/>
                  <a:cs typeface="Pretendard SemiBold"/>
                </a:rPr>
                <a:t>보정</a:t>
              </a:r>
              <a:r>
                <a:rPr lang="ko-KR" altLang="en-US" sz="3733" b="0" i="0" u="none" strike="noStrike" spc="-200" dirty="0">
                  <a:solidFill>
                    <a:srgbClr val="222222"/>
                  </a:solidFill>
                  <a:latin typeface="Pretendard SemiBold"/>
                  <a:ea typeface="Pretendard SemiBold"/>
                  <a:cs typeface="Pretendard SemiBold"/>
                </a:rPr>
                <a:t> 연산</a:t>
              </a:r>
              <a:endParaRPr lang="en-US" sz="3733" b="0" i="0" u="none" strike="noStrike" spc="-200" dirty="0">
                <a:solidFill>
                  <a:srgbClr val="222222"/>
                </a:solidFill>
                <a:latin typeface="Pretendard SemiBold"/>
                <a:ea typeface="Pretendard SemiBold"/>
                <a:cs typeface="Pretendard SemiBold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648700" y="11244275"/>
              <a:ext cx="11074400" cy="10287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l">
                <a:lnSpc>
                  <a:spcPct val="132800"/>
                </a:lnSpc>
              </a:pPr>
              <a:r>
                <a:rPr lang="ko-KR" altLang="en-US" sz="3066" b="0" i="0" u="none" strike="noStrike" spc="-200" dirty="0">
                  <a:solidFill>
                    <a:srgbClr val="595959"/>
                  </a:solidFill>
                  <a:latin typeface="Pretendard Regular"/>
                  <a:ea typeface="Pretendard Regular"/>
                  <a:cs typeface="Pretendard Regular"/>
                </a:rPr>
                <a:t>사용자가 벽면에 밀착해 측정하기까지의 앞뒤 거리 변화를 수학적으로 보정</a:t>
              </a:r>
              <a:endParaRPr lang="en-US" altLang="ko-KR" sz="3066" b="0" i="0" u="none" strike="noStrike" spc="-200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endParaRPr>
            </a:p>
            <a:p>
              <a:pPr lvl="0" algn="l">
                <a:lnSpc>
                  <a:spcPct val="132800"/>
                </a:lnSpc>
              </a:pPr>
              <a:r>
                <a:rPr lang="en-US" altLang="ko-KR" sz="3066" spc="-200" dirty="0">
                  <a:solidFill>
                    <a:srgbClr val="595959"/>
                  </a:solidFill>
                  <a:latin typeface="Pretendard Regular"/>
                  <a:ea typeface="Pretendard Regular"/>
                  <a:cs typeface="Pretendard Regular"/>
                </a:rPr>
                <a:t>-&gt; </a:t>
              </a:r>
              <a:r>
                <a:rPr lang="ko-KR" altLang="en-US" sz="3066" spc="-200" dirty="0">
                  <a:solidFill>
                    <a:srgbClr val="595959"/>
                  </a:solidFill>
                  <a:latin typeface="Pretendard Regular"/>
                  <a:ea typeface="Pretendard Regular"/>
                  <a:cs typeface="Pretendard Regular"/>
                </a:rPr>
                <a:t>전선 궤적 생성 정확도 증가</a:t>
              </a:r>
              <a:endParaRPr lang="en-US" altLang="ko-KR" sz="3066" spc="-200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endParaRPr>
            </a:p>
            <a:p>
              <a:pPr lvl="0" algn="l">
                <a:lnSpc>
                  <a:spcPct val="132800"/>
                </a:lnSpc>
              </a:pPr>
              <a:endParaRPr lang="en-US" sz="3066" b="0" i="0" u="none" strike="noStrike" spc="-200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endParaRP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7938B186-0E82-A8C8-293B-3D8A15E4B659}"/>
              </a:ext>
            </a:extLst>
          </p:cNvPr>
          <p:cNvGrpSpPr/>
          <p:nvPr/>
        </p:nvGrpSpPr>
        <p:grpSpPr>
          <a:xfrm>
            <a:off x="2679700" y="4140200"/>
            <a:ext cx="4178300" cy="15557500"/>
            <a:chOff x="2679700" y="4140200"/>
            <a:chExt cx="4178300" cy="15557500"/>
          </a:xfrm>
        </p:grpSpPr>
        <p:pic>
          <p:nvPicPr>
            <p:cNvPr id="15" name="Picture 15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679700" y="4140200"/>
              <a:ext cx="4178300" cy="15557500"/>
            </a:xfrm>
            <a:prstGeom prst="rect">
              <a:avLst/>
            </a:prstGeom>
          </p:spPr>
        </p:pic>
        <p:pic>
          <p:nvPicPr>
            <p:cNvPr id="16" name="Picture 16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882900" y="4191000"/>
              <a:ext cx="3784600" cy="7607300"/>
            </a:xfrm>
            <a:prstGeom prst="rect">
              <a:avLst/>
            </a:prstGeom>
          </p:spPr>
        </p:pic>
      </p:grpSp>
      <p:sp>
        <p:nvSpPr>
          <p:cNvPr id="32" name="TextBox 15">
            <a:extLst>
              <a:ext uri="{FF2B5EF4-FFF2-40B4-BE49-F238E27FC236}">
                <a16:creationId xmlns:a16="http://schemas.microsoft.com/office/drawing/2014/main" id="{FA8B2E3C-DFE5-F1EB-A8B7-F757FC3E30CB}"/>
              </a:ext>
            </a:extLst>
          </p:cNvPr>
          <p:cNvSpPr txBox="1"/>
          <p:nvPr/>
        </p:nvSpPr>
        <p:spPr>
          <a:xfrm>
            <a:off x="1739900" y="1233778"/>
            <a:ext cx="4216400" cy="850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altLang="en-US" sz="5500" b="0" i="0" u="none" strike="noStrike" dirty="0">
                <a:solidFill>
                  <a:srgbClr val="4E4E4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프로젝트 결과</a:t>
            </a:r>
            <a:endParaRPr lang="en-US" sz="5500" b="0" i="0" u="none" strike="noStrike" dirty="0">
              <a:solidFill>
                <a:srgbClr val="4E4E4E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150" y="882650"/>
            <a:ext cx="22491700" cy="11950700"/>
          </a:xfrm>
          <a:prstGeom prst="rect">
            <a:avLst/>
          </a:prstGeom>
          <a:effectLst>
            <a:outerShdw blurRad="597747" dir="4080000">
              <a:srgbClr val="8FD0FE">
                <a:alpha val="30000"/>
              </a:srgbClr>
            </a:outerShdw>
          </a:effectLst>
        </p:spPr>
      </p:pic>
      <p:sp>
        <p:nvSpPr>
          <p:cNvPr id="3" name="TextBox 3"/>
          <p:cNvSpPr txBox="1"/>
          <p:nvPr/>
        </p:nvSpPr>
        <p:spPr>
          <a:xfrm>
            <a:off x="1749425" y="2057400"/>
            <a:ext cx="15290800" cy="1308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800" b="0" i="0" u="none" strike="noStrike" spc="-300" dirty="0" err="1">
                <a:solidFill>
                  <a:srgbClr val="222222"/>
                </a:solidFill>
                <a:latin typeface="Pretendard SemiBold"/>
                <a:ea typeface="Pretendard SemiBold"/>
                <a:cs typeface="Pretendard SemiBold"/>
              </a:rPr>
              <a:t>핵심</a:t>
            </a:r>
            <a:r>
              <a:rPr lang="en-US" sz="4800" b="0" i="0" u="none" strike="noStrike" spc="-300" dirty="0">
                <a:solidFill>
                  <a:srgbClr val="222222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4800" b="0" i="0" u="none" strike="noStrike" spc="-300" dirty="0" err="1">
                <a:solidFill>
                  <a:srgbClr val="222222"/>
                </a:solidFill>
                <a:latin typeface="Pretendard SemiBold"/>
                <a:ea typeface="Pretendard SemiBold"/>
                <a:cs typeface="Pretendard SemiBold"/>
              </a:rPr>
              <a:t>기능</a:t>
            </a:r>
            <a:r>
              <a:rPr lang="en-US" sz="4800" b="0" i="0" u="none" strike="noStrike" spc="-300" dirty="0">
                <a:solidFill>
                  <a:srgbClr val="222222"/>
                </a:solidFill>
                <a:latin typeface="Pretendard SemiBold"/>
                <a:ea typeface="Pretendard SemiBold"/>
                <a:cs typeface="Pretendard SemiBold"/>
              </a:rPr>
              <a:t> 2 : 0.1° </a:t>
            </a:r>
            <a:r>
              <a:rPr lang="en-US" sz="4800" b="0" i="0" u="none" strike="noStrike" spc="-300" dirty="0" err="1">
                <a:solidFill>
                  <a:srgbClr val="222222"/>
                </a:solidFill>
                <a:latin typeface="Pretendard SemiBold"/>
                <a:ea typeface="Pretendard SemiBold"/>
                <a:cs typeface="Pretendard SemiBold"/>
              </a:rPr>
              <a:t>단위</a:t>
            </a:r>
            <a:r>
              <a:rPr lang="en-US" sz="4800" b="0" i="0" u="none" strike="noStrike" spc="-300" dirty="0">
                <a:solidFill>
                  <a:srgbClr val="222222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4800" b="0" i="0" u="none" strike="noStrike" spc="-300" dirty="0" err="1">
                <a:solidFill>
                  <a:srgbClr val="222222"/>
                </a:solidFill>
                <a:latin typeface="Pretendard SemiBold"/>
                <a:ea typeface="Pretendard SemiBold"/>
                <a:cs typeface="Pretendard SemiBold"/>
              </a:rPr>
              <a:t>정밀</a:t>
            </a:r>
            <a:r>
              <a:rPr lang="en-US" sz="4800" b="0" i="0" u="none" strike="noStrike" spc="-300" dirty="0">
                <a:solidFill>
                  <a:srgbClr val="222222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4800" b="0" i="0" u="none" strike="noStrike" spc="-300" dirty="0" err="1">
                <a:solidFill>
                  <a:srgbClr val="222222"/>
                </a:solidFill>
                <a:latin typeface="Pretendard SemiBold"/>
                <a:ea typeface="Pretendard SemiBold"/>
                <a:cs typeface="Pretendard SemiBold"/>
              </a:rPr>
              <a:t>디지털</a:t>
            </a:r>
            <a:r>
              <a:rPr lang="en-US" sz="4800" b="0" i="0" u="none" strike="noStrike" spc="-300" dirty="0">
                <a:solidFill>
                  <a:srgbClr val="222222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4800" b="0" i="0" u="none" strike="noStrike" spc="-300" dirty="0" err="1">
                <a:solidFill>
                  <a:srgbClr val="222222"/>
                </a:solidFill>
                <a:latin typeface="Pretendard SemiBold"/>
                <a:ea typeface="Pretendard SemiBold"/>
                <a:cs typeface="Pretendard SemiBold"/>
              </a:rPr>
              <a:t>수평계</a:t>
            </a:r>
            <a:endParaRPr lang="en-US" sz="4800" b="0" i="0" u="none" strike="noStrike" spc="-300" dirty="0">
              <a:solidFill>
                <a:srgbClr val="222222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B7E0E80F-0109-F9DA-E1E7-6DC4895E8394}"/>
              </a:ext>
            </a:extLst>
          </p:cNvPr>
          <p:cNvGrpSpPr/>
          <p:nvPr/>
        </p:nvGrpSpPr>
        <p:grpSpPr>
          <a:xfrm>
            <a:off x="9093200" y="2806700"/>
            <a:ext cx="12560300" cy="3733800"/>
            <a:chOff x="9093200" y="2806700"/>
            <a:chExt cx="12560300" cy="3733800"/>
          </a:xfrm>
        </p:grpSpPr>
        <p:pic>
          <p:nvPicPr>
            <p:cNvPr id="4" name="Picture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093200" y="4165600"/>
              <a:ext cx="12166600" cy="2374900"/>
            </a:xfrm>
            <a:prstGeom prst="rect">
              <a:avLst/>
            </a:prstGeom>
          </p:spPr>
        </p:pic>
        <p:sp>
          <p:nvSpPr>
            <p:cNvPr id="5" name="TextBox 5"/>
            <p:cNvSpPr txBox="1"/>
            <p:nvPr/>
          </p:nvSpPr>
          <p:spPr>
            <a:xfrm>
              <a:off x="9108948" y="4603750"/>
              <a:ext cx="3505200" cy="6604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ctr">
                <a:lnSpc>
                  <a:spcPct val="120350"/>
                </a:lnSpc>
              </a:pPr>
              <a:r>
                <a:rPr lang="en-US" sz="3700" b="0" i="0" u="none" strike="noStrike" spc="-200" dirty="0" err="1">
                  <a:solidFill>
                    <a:srgbClr val="222222"/>
                  </a:solidFill>
                  <a:latin typeface="Pretendard SemiBold"/>
                  <a:ea typeface="Pretendard SemiBold"/>
                  <a:cs typeface="Pretendard SemiBold"/>
                </a:rPr>
                <a:t>정밀</a:t>
              </a:r>
              <a:r>
                <a:rPr lang="en-US" sz="3700" b="0" i="0" u="none" strike="noStrike" spc="-200" dirty="0">
                  <a:solidFill>
                    <a:srgbClr val="222222"/>
                  </a:solidFill>
                  <a:latin typeface="Pretendard SemiBold"/>
                  <a:ea typeface="Pretendard SemiBold"/>
                  <a:cs typeface="Pretendard SemiBold"/>
                </a:rPr>
                <a:t> </a:t>
              </a:r>
              <a:r>
                <a:rPr lang="en-US" sz="3700" b="0" i="0" u="none" strike="noStrike" spc="-200" dirty="0" err="1">
                  <a:solidFill>
                    <a:srgbClr val="222222"/>
                  </a:solidFill>
                  <a:latin typeface="Pretendard SemiBold"/>
                  <a:ea typeface="Pretendard SemiBold"/>
                  <a:cs typeface="Pretendard SemiBold"/>
                </a:rPr>
                <a:t>각도</a:t>
              </a:r>
              <a:r>
                <a:rPr lang="en-US" sz="3700" b="0" i="0" u="none" strike="noStrike" spc="-200" dirty="0">
                  <a:solidFill>
                    <a:srgbClr val="222222"/>
                  </a:solidFill>
                  <a:latin typeface="Pretendard SemiBold"/>
                  <a:ea typeface="Pretendard SemiBold"/>
                  <a:cs typeface="Pretendard SemiBold"/>
                </a:rPr>
                <a:t> </a:t>
              </a:r>
              <a:r>
                <a:rPr lang="en-US" sz="3700" b="0" i="0" u="none" strike="noStrike" spc="-200" dirty="0" err="1">
                  <a:solidFill>
                    <a:srgbClr val="222222"/>
                  </a:solidFill>
                  <a:latin typeface="Pretendard SemiBold"/>
                  <a:ea typeface="Pretendard SemiBold"/>
                  <a:cs typeface="Pretendard SemiBold"/>
                </a:rPr>
                <a:t>연산</a:t>
              </a:r>
              <a:endParaRPr lang="en-US" sz="3700" b="0" i="0" u="none" strike="noStrike" spc="-200" dirty="0">
                <a:solidFill>
                  <a:srgbClr val="222222"/>
                </a:solidFill>
                <a:latin typeface="Pretendard SemiBold"/>
                <a:ea typeface="Pretendard SemiBold"/>
                <a:cs typeface="Pretendard SemiBold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9394825" y="5422900"/>
              <a:ext cx="11506200" cy="5715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ctr">
                <a:lnSpc>
                  <a:spcPct val="132800"/>
                </a:lnSpc>
              </a:pPr>
              <a:r>
                <a:rPr lang="en-US" sz="3199" b="0" i="0" u="none" strike="noStrike" spc="-2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가속도·지자기</a:t>
              </a:r>
              <a:r>
                <a:rPr lang="en-US" sz="3199" b="0" i="0" u="none" strike="noStrike" spc="-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 </a:t>
              </a:r>
              <a:r>
                <a:rPr lang="en-US" sz="3199" b="0" i="0" u="none" strike="noStrike" spc="-2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센서</a:t>
              </a:r>
              <a:r>
                <a:rPr lang="en-US" sz="3199" b="0" i="0" u="none" strike="noStrike" spc="-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 </a:t>
              </a:r>
              <a:r>
                <a:rPr lang="en-US" sz="3199" b="0" i="0" u="none" strike="noStrike" spc="-2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융합</a:t>
              </a:r>
              <a:r>
                <a:rPr lang="en-US" sz="3199" b="0" i="0" u="none" strike="noStrike" spc="-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 및 </a:t>
              </a:r>
              <a:r>
                <a:rPr lang="en-US" sz="3199" b="0" i="0" u="none" strike="noStrike" spc="-2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회전</a:t>
              </a:r>
              <a:r>
                <a:rPr lang="en-US" sz="3199" b="0" i="0" u="none" strike="noStrike" spc="-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 </a:t>
              </a:r>
              <a:r>
                <a:rPr lang="en-US" sz="3199" b="0" i="0" u="none" strike="noStrike" spc="-2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행렬공식</a:t>
              </a:r>
              <a:r>
                <a:rPr lang="en-US" sz="3199" b="0" i="0" u="none" strike="noStrike" spc="-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 </a:t>
              </a:r>
              <a:r>
                <a:rPr lang="en-US" sz="3199" b="0" i="0" u="none" strike="noStrike" spc="-2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적용으로</a:t>
              </a:r>
              <a:r>
                <a:rPr lang="en-US" sz="3199" b="0" i="0" u="none" strike="noStrike" spc="-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 </a:t>
              </a:r>
              <a:r>
                <a:rPr lang="en-US" sz="3199" b="0" i="0" u="none" strike="noStrike" spc="-2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실시간</a:t>
              </a:r>
              <a:r>
                <a:rPr lang="en-US" sz="3199" b="0" i="0" u="none" strike="noStrike" spc="-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 </a:t>
              </a:r>
              <a:r>
                <a:rPr lang="en-US" sz="3199" b="0" i="0" u="none" strike="noStrike" spc="-2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미세</a:t>
              </a:r>
              <a:r>
                <a:rPr lang="en-US" sz="3199" b="0" i="0" u="none" strike="noStrike" spc="-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 </a:t>
              </a:r>
              <a:r>
                <a:rPr lang="en-US" sz="3199" b="0" i="0" u="none" strike="noStrike" spc="-2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각도</a:t>
              </a:r>
              <a:r>
                <a:rPr lang="en-US" sz="3199" b="0" i="0" u="none" strike="noStrike" spc="-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 </a:t>
              </a:r>
              <a:r>
                <a:rPr lang="en-US" sz="3199" b="0" i="0" u="none" strike="noStrike" spc="-2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추출</a:t>
              </a:r>
              <a:endParaRPr lang="en-US" sz="3199" b="0" i="0" u="none" strike="noStrike" spc="-2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  <p:pic>
          <p:nvPicPr>
            <p:cNvPr id="10" name="Picture 1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0193000" y="2806700"/>
              <a:ext cx="1460500" cy="1828800"/>
            </a:xfrm>
            <a:prstGeom prst="rect">
              <a:avLst/>
            </a:prstGeom>
            <a:effectLst>
              <a:outerShdw blurRad="145974" dist="33686" dir="4560000">
                <a:srgbClr val="3C84FF">
                  <a:alpha val="20000"/>
                </a:srgbClr>
              </a:outerShdw>
            </a:effectLst>
          </p:spPr>
        </p:pic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A8A96922-129E-6196-EE66-25D959D22A5E}"/>
              </a:ext>
            </a:extLst>
          </p:cNvPr>
          <p:cNvGrpSpPr/>
          <p:nvPr/>
        </p:nvGrpSpPr>
        <p:grpSpPr>
          <a:xfrm>
            <a:off x="2552700" y="3632200"/>
            <a:ext cx="4787900" cy="15240000"/>
            <a:chOff x="2552700" y="3632200"/>
            <a:chExt cx="4787900" cy="15240000"/>
          </a:xfrm>
        </p:grpSpPr>
        <p:grpSp>
          <p:nvGrpSpPr>
            <p:cNvPr id="21" name="그룹 20">
              <a:extLst>
                <a:ext uri="{FF2B5EF4-FFF2-40B4-BE49-F238E27FC236}">
                  <a16:creationId xmlns:a16="http://schemas.microsoft.com/office/drawing/2014/main" id="{5672A075-40DC-7DA0-2EB7-1AD2091916D1}"/>
                </a:ext>
              </a:extLst>
            </p:cNvPr>
            <p:cNvGrpSpPr/>
            <p:nvPr/>
          </p:nvGrpSpPr>
          <p:grpSpPr>
            <a:xfrm>
              <a:off x="2552700" y="3632200"/>
              <a:ext cx="4305300" cy="15240000"/>
              <a:chOff x="2552700" y="3632200"/>
              <a:chExt cx="4305300" cy="15240000"/>
            </a:xfrm>
          </p:grpSpPr>
          <p:pic>
            <p:nvPicPr>
              <p:cNvPr id="11" name="Picture 11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552700" y="3632200"/>
                <a:ext cx="4305300" cy="15240000"/>
              </a:xfrm>
              <a:prstGeom prst="rect">
                <a:avLst/>
              </a:prstGeom>
            </p:spPr>
          </p:pic>
          <p:pic>
            <p:nvPicPr>
              <p:cNvPr id="12" name="Picture 12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705100" y="3937000"/>
                <a:ext cx="3911600" cy="7099300"/>
              </a:xfrm>
              <a:prstGeom prst="rect">
                <a:avLst/>
              </a:prstGeom>
            </p:spPr>
          </p:pic>
        </p:grpSp>
        <p:pic>
          <p:nvPicPr>
            <p:cNvPr id="13" name="Picture 13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146800" y="10858500"/>
              <a:ext cx="1193800" cy="1193800"/>
            </a:xfrm>
            <a:prstGeom prst="rect">
              <a:avLst/>
            </a:prstGeom>
            <a:effectLst>
              <a:outerShdw blurRad="118773" dist="36545" dir="4560000">
                <a:srgbClr val="3C84FF">
                  <a:alpha val="25000"/>
                </a:srgbClr>
              </a:outerShdw>
            </a:effectLst>
          </p:spPr>
        </p:pic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D1A19849-40C9-8B20-2493-295612EEC782}"/>
              </a:ext>
            </a:extLst>
          </p:cNvPr>
          <p:cNvGrpSpPr/>
          <p:nvPr/>
        </p:nvGrpSpPr>
        <p:grpSpPr>
          <a:xfrm>
            <a:off x="9105900" y="6858000"/>
            <a:ext cx="12167152" cy="5410200"/>
            <a:chOff x="9105900" y="6858000"/>
            <a:chExt cx="12167152" cy="5410200"/>
          </a:xfrm>
        </p:grpSpPr>
        <p:pic>
          <p:nvPicPr>
            <p:cNvPr id="7" name="Picture 7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9105900" y="6858000"/>
              <a:ext cx="12153900" cy="5410200"/>
            </a:xfrm>
            <a:prstGeom prst="rect">
              <a:avLst/>
            </a:prstGeom>
          </p:spPr>
        </p:pic>
        <p:sp>
          <p:nvSpPr>
            <p:cNvPr id="17" name="TextBox 5">
              <a:extLst>
                <a:ext uri="{FF2B5EF4-FFF2-40B4-BE49-F238E27FC236}">
                  <a16:creationId xmlns:a16="http://schemas.microsoft.com/office/drawing/2014/main" id="{C3FA0954-808E-59D9-9487-0D3A491E0960}"/>
                </a:ext>
              </a:extLst>
            </p:cNvPr>
            <p:cNvSpPr txBox="1"/>
            <p:nvPr/>
          </p:nvSpPr>
          <p:spPr>
            <a:xfrm>
              <a:off x="9442704" y="7306564"/>
              <a:ext cx="7327348" cy="6604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ctr">
                <a:lnSpc>
                  <a:spcPct val="120350"/>
                </a:lnSpc>
              </a:pPr>
              <a:r>
                <a:rPr lang="ko-KR" altLang="ko-KR" sz="3700" dirty="0"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이원화 측정 시스템 (</a:t>
              </a:r>
              <a:r>
                <a:rPr lang="ko-KR" altLang="ko-KR" sz="3700" dirty="0" err="1"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Dual-Mode</a:t>
              </a:r>
              <a:r>
                <a:rPr lang="ko-KR" altLang="ko-KR" sz="3700" dirty="0"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)</a:t>
              </a:r>
              <a:endParaRPr lang="en-US" sz="3700" b="0" i="0" u="none" strike="noStrike" spc="-200" dirty="0">
                <a:solidFill>
                  <a:srgbClr val="222222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  <p:sp>
          <p:nvSpPr>
            <p:cNvPr id="18" name="TextBox 6">
              <a:extLst>
                <a:ext uri="{FF2B5EF4-FFF2-40B4-BE49-F238E27FC236}">
                  <a16:creationId xmlns:a16="http://schemas.microsoft.com/office/drawing/2014/main" id="{D790664C-2602-BC1E-8208-B92CF18D5191}"/>
                </a:ext>
              </a:extLst>
            </p:cNvPr>
            <p:cNvSpPr txBox="1"/>
            <p:nvPr/>
          </p:nvSpPr>
          <p:spPr>
            <a:xfrm>
              <a:off x="9766852" y="8242300"/>
              <a:ext cx="11492948" cy="1474787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r>
                <a:rPr lang="en-US" altLang="ko-KR" sz="3200" b="1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- </a:t>
              </a:r>
              <a:r>
                <a:rPr lang="ko-KR" altLang="ko-KR" sz="3200" b="1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바닥 모드 (</a:t>
              </a:r>
              <a:r>
                <a:rPr lang="ko-KR" altLang="ko-KR" sz="3200" b="1" dirty="0" err="1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Flat</a:t>
              </a:r>
              <a:r>
                <a:rPr lang="ko-KR" altLang="ko-KR" sz="3200" b="1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</a:t>
              </a:r>
              <a:r>
                <a:rPr lang="ko-KR" altLang="ko-KR" sz="3200" b="1" dirty="0" err="1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Mode</a:t>
              </a:r>
              <a:r>
                <a:rPr lang="ko-KR" altLang="ko-KR" sz="3200" b="1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)</a:t>
              </a:r>
              <a:endParaRPr lang="ko-KR" altLang="ko-KR" sz="3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r>
                <a:rPr lang="ko-KR" altLang="ko-KR" sz="3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스마트폰을 바닥에 완전히 눕혔을 때가 </a:t>
              </a:r>
              <a:r>
                <a:rPr lang="ko-KR" altLang="ko-KR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0.0°</a:t>
              </a:r>
              <a:r>
                <a:rPr lang="ko-KR" altLang="ko-KR" sz="3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기준이며, 가구 조립 및 평면 수평 측정에 사용</a:t>
              </a:r>
            </a:p>
          </p:txBody>
        </p:sp>
        <p:sp>
          <p:nvSpPr>
            <p:cNvPr id="19" name="TextBox 6">
              <a:extLst>
                <a:ext uri="{FF2B5EF4-FFF2-40B4-BE49-F238E27FC236}">
                  <a16:creationId xmlns:a16="http://schemas.microsoft.com/office/drawing/2014/main" id="{7D09BDB6-DD3B-4B41-49AE-95E5DB7AF711}"/>
                </a:ext>
              </a:extLst>
            </p:cNvPr>
            <p:cNvSpPr txBox="1"/>
            <p:nvPr/>
          </p:nvSpPr>
          <p:spPr>
            <a:xfrm>
              <a:off x="9766852" y="10147300"/>
              <a:ext cx="11506200" cy="149701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r>
                <a:rPr lang="en-US" altLang="ko-KR" sz="3200" b="1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- </a:t>
              </a:r>
              <a:r>
                <a:rPr lang="ko-KR" altLang="ko-KR" sz="3200" b="1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벽면 모드 (</a:t>
              </a:r>
              <a:r>
                <a:rPr lang="ko-KR" altLang="ko-KR" sz="3200" b="1" dirty="0" err="1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Standing</a:t>
              </a:r>
              <a:r>
                <a:rPr lang="ko-KR" altLang="ko-KR" sz="3200" b="1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</a:t>
              </a:r>
              <a:r>
                <a:rPr lang="ko-KR" altLang="ko-KR" sz="3200" b="1" dirty="0" err="1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Mode</a:t>
              </a:r>
              <a:r>
                <a:rPr lang="ko-KR" altLang="ko-KR" sz="3200" b="1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)</a:t>
              </a:r>
              <a:endParaRPr lang="ko-KR" altLang="ko-KR" sz="3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r>
                <a:rPr lang="ko-KR" altLang="ko-KR" sz="3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스마트폰을 벽에 수직으로 세웠을 때가 </a:t>
              </a:r>
              <a:r>
                <a:rPr lang="ko-KR" altLang="ko-KR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0.0°</a:t>
              </a:r>
              <a:r>
                <a:rPr lang="ko-KR" altLang="ko-KR" sz="3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기준이며, 액자나 선반의 좌우 기울기 측정에 사용</a:t>
              </a:r>
            </a:p>
          </p:txBody>
        </p:sp>
      </p:grpSp>
      <p:sp>
        <p:nvSpPr>
          <p:cNvPr id="9" name="TextBox 15">
            <a:extLst>
              <a:ext uri="{FF2B5EF4-FFF2-40B4-BE49-F238E27FC236}">
                <a16:creationId xmlns:a16="http://schemas.microsoft.com/office/drawing/2014/main" id="{E3520083-8F33-1927-74B7-E619786206E3}"/>
              </a:ext>
            </a:extLst>
          </p:cNvPr>
          <p:cNvSpPr txBox="1"/>
          <p:nvPr/>
        </p:nvSpPr>
        <p:spPr>
          <a:xfrm>
            <a:off x="1714789" y="1206500"/>
            <a:ext cx="4343400" cy="850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altLang="en-US" sz="5500" b="0" i="0" u="none" strike="noStrike" dirty="0">
                <a:solidFill>
                  <a:srgbClr val="4E4E4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프로젝트 결과</a:t>
            </a:r>
            <a:endParaRPr lang="en-US" sz="5500" b="0" i="0" u="none" strike="noStrike" dirty="0">
              <a:solidFill>
                <a:srgbClr val="4E4E4E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1D2343D-499A-5F86-13D7-8D56783B5331}"/>
              </a:ext>
            </a:extLst>
          </p:cNvPr>
          <p:cNvSpPr/>
          <p:nvPr/>
        </p:nvSpPr>
        <p:spPr>
          <a:xfrm>
            <a:off x="3355686" y="3752850"/>
            <a:ext cx="2438400" cy="7874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06DE5ECB-0574-E949-47FD-424320DE0F20}"/>
              </a:ext>
            </a:extLst>
          </p:cNvPr>
          <p:cNvCxnSpPr/>
          <p:nvPr/>
        </p:nvCxnSpPr>
        <p:spPr>
          <a:xfrm flipH="1" flipV="1">
            <a:off x="6324600" y="4343400"/>
            <a:ext cx="3118104" cy="314325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876300"/>
            <a:ext cx="22491700" cy="11950700"/>
          </a:xfrm>
          <a:prstGeom prst="rect">
            <a:avLst/>
          </a:prstGeom>
          <a:effectLst>
            <a:outerShdw blurRad="597747" dir="4080000">
              <a:srgbClr val="8FD0FE">
                <a:alpha val="30000"/>
              </a:srgbClr>
            </a:outerShdw>
          </a:effectLst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90000"/>
          </a:blip>
          <a:stretch>
            <a:fillRect/>
          </a:stretch>
        </p:blipFill>
        <p:spPr>
          <a:xfrm>
            <a:off x="5562600" y="952500"/>
            <a:ext cx="14084300" cy="11874500"/>
          </a:xfrm>
          <a:prstGeom prst="rect">
            <a:avLst/>
          </a:prstGeom>
          <a:effectLst>
            <a:outerShdw blurRad="1960001" dir="2700000">
              <a:srgbClr val="009AFB">
                <a:alpha val="36000"/>
              </a:srgbClr>
            </a:outerShdw>
          </a:effectLst>
        </p:spPr>
      </p:pic>
      <p:sp>
        <p:nvSpPr>
          <p:cNvPr id="4" name="TextBox 4"/>
          <p:cNvSpPr txBox="1"/>
          <p:nvPr/>
        </p:nvSpPr>
        <p:spPr>
          <a:xfrm>
            <a:off x="3352800" y="4664765"/>
            <a:ext cx="18503900" cy="554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3200" b="0" i="0" u="none" strike="noStrike" spc="-200" dirty="0">
                <a:solidFill>
                  <a:srgbClr val="22222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본 </a:t>
            </a:r>
            <a:r>
              <a:rPr lang="en-US" sz="3200" b="0" i="0" u="none" strike="noStrike" spc="-200" dirty="0" err="1">
                <a:solidFill>
                  <a:srgbClr val="22222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프로젝트는</a:t>
            </a:r>
            <a:r>
              <a:rPr lang="en-US" sz="3200" b="0" i="0" u="none" strike="noStrike" spc="-200" dirty="0">
                <a:solidFill>
                  <a:srgbClr val="22222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3200" b="0" i="0" u="none" strike="noStrike" spc="-200" dirty="0" err="1">
                <a:solidFill>
                  <a:srgbClr val="22222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AR과</a:t>
            </a:r>
            <a:r>
              <a:rPr lang="en-US" sz="3200" b="0" i="0" u="none" strike="noStrike" spc="-200" dirty="0">
                <a:solidFill>
                  <a:srgbClr val="22222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3200" b="0" i="0" u="none" strike="noStrike" spc="-200" dirty="0" err="1">
                <a:solidFill>
                  <a:srgbClr val="22222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하드웨어</a:t>
            </a:r>
            <a:r>
              <a:rPr lang="en-US" sz="3200" b="0" i="0" u="none" strike="noStrike" spc="-200" dirty="0">
                <a:solidFill>
                  <a:srgbClr val="22222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3200" b="0" i="0" u="none" strike="noStrike" spc="-200" dirty="0" err="1">
                <a:solidFill>
                  <a:srgbClr val="22222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센서</a:t>
            </a:r>
            <a:r>
              <a:rPr lang="en-US" sz="3200" b="0" i="0" u="none" strike="noStrike" spc="-200" dirty="0">
                <a:solidFill>
                  <a:srgbClr val="22222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3200" b="0" i="0" u="none" strike="noStrike" spc="-200" dirty="0" err="1">
                <a:solidFill>
                  <a:srgbClr val="22222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융합으로</a:t>
            </a:r>
            <a:r>
              <a:rPr lang="en-US" sz="3200" b="0" i="0" u="none" strike="noStrike" spc="-200" dirty="0">
                <a:solidFill>
                  <a:srgbClr val="22222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3200" b="0" i="0" u="none" strike="noStrike" spc="-200" dirty="0" err="1">
                <a:solidFill>
                  <a:srgbClr val="22222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일상</a:t>
            </a:r>
            <a:r>
              <a:rPr lang="en-US" sz="3200" b="0" i="0" u="none" strike="noStrike" spc="-200" dirty="0">
                <a:solidFill>
                  <a:srgbClr val="22222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속 </a:t>
            </a:r>
            <a:r>
              <a:rPr lang="en-US" sz="3200" b="0" i="0" u="none" strike="noStrike" spc="-200" dirty="0" err="1">
                <a:solidFill>
                  <a:srgbClr val="22222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안전과</a:t>
            </a:r>
            <a:r>
              <a:rPr lang="en-US" sz="3200" b="0" i="0" u="none" strike="noStrike" spc="-200" dirty="0">
                <a:solidFill>
                  <a:srgbClr val="22222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3200" b="0" i="0" u="none" strike="noStrike" spc="-200" dirty="0" err="1">
                <a:solidFill>
                  <a:srgbClr val="22222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정밀함을</a:t>
            </a:r>
            <a:r>
              <a:rPr lang="en-US" sz="3200" b="0" i="0" u="none" strike="noStrike" spc="-200" dirty="0">
                <a:solidFill>
                  <a:srgbClr val="22222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3200" b="0" i="0" u="none" strike="noStrike" spc="-200" dirty="0" err="1">
                <a:solidFill>
                  <a:srgbClr val="22222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실현했습니다</a:t>
            </a:r>
            <a:r>
              <a:rPr lang="en-US" sz="3200" b="0" i="0" u="none" strike="noStrike" spc="-200" dirty="0">
                <a:solidFill>
                  <a:srgbClr val="22222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.</a:t>
            </a:r>
          </a:p>
          <a:p>
            <a:pPr lvl="0" algn="ctr">
              <a:lnSpc>
                <a:spcPct val="132800"/>
              </a:lnSpc>
            </a:pPr>
            <a:r>
              <a:rPr lang="en-US" sz="3200" b="0" i="0" u="none" strike="noStrike" spc="-200" dirty="0">
                <a:solidFill>
                  <a:srgbClr val="22222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
- </a:t>
            </a:r>
            <a:r>
              <a:rPr lang="en-US" sz="3200" b="0" i="0" u="none" strike="noStrike" spc="-200" dirty="0" err="1">
                <a:solidFill>
                  <a:srgbClr val="22222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안드로이드</a:t>
            </a:r>
            <a:r>
              <a:rPr lang="en-US" sz="3200" b="0" i="0" u="none" strike="noStrike" spc="-200" dirty="0">
                <a:solidFill>
                  <a:srgbClr val="22222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3200" b="0" i="0" u="none" strike="noStrike" spc="-200" dirty="0" err="1">
                <a:solidFill>
                  <a:srgbClr val="22222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기기</a:t>
            </a:r>
            <a:r>
              <a:rPr lang="en-US" sz="3200" b="0" i="0" u="none" strike="noStrike" spc="-200" dirty="0">
                <a:solidFill>
                  <a:srgbClr val="22222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3200" b="0" i="0" u="none" strike="noStrike" spc="-200" dirty="0" err="1">
                <a:solidFill>
                  <a:srgbClr val="22222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통합</a:t>
            </a:r>
            <a:r>
              <a:rPr lang="en-US" sz="3200" b="0" i="0" u="none" strike="noStrike" spc="-200" dirty="0">
                <a:solidFill>
                  <a:srgbClr val="22222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3200" b="0" i="0" u="none" strike="noStrike" spc="-200" dirty="0" err="1">
                <a:solidFill>
                  <a:srgbClr val="22222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빌드·현장</a:t>
            </a:r>
            <a:r>
              <a:rPr lang="en-US" sz="3200" b="0" i="0" u="none" strike="noStrike" spc="-200" dirty="0">
                <a:solidFill>
                  <a:srgbClr val="22222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3200" b="0" i="0" u="none" strike="noStrike" spc="-200" dirty="0" err="1">
                <a:solidFill>
                  <a:srgbClr val="22222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테스트</a:t>
            </a:r>
            <a:r>
              <a:rPr lang="en-US" sz="3200" b="0" i="0" u="none" strike="noStrike" spc="-200" dirty="0">
                <a:solidFill>
                  <a:srgbClr val="22222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3200" b="0" i="0" u="none" strike="noStrike" spc="-200" dirty="0" err="1">
                <a:solidFill>
                  <a:srgbClr val="22222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완료</a:t>
            </a:r>
            <a:r>
              <a:rPr lang="en-US" sz="3200" b="0" i="0" u="none" strike="noStrike" spc="-200" dirty="0">
                <a:solidFill>
                  <a:srgbClr val="22222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
- </a:t>
            </a:r>
            <a:r>
              <a:rPr lang="en-US" sz="3200" b="0" i="0" u="none" strike="noStrike" spc="-200" dirty="0" err="1">
                <a:solidFill>
                  <a:srgbClr val="22222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전선</a:t>
            </a:r>
            <a:r>
              <a:rPr lang="en-US" sz="3200" b="0" i="0" u="none" strike="noStrike" spc="-200" dirty="0">
                <a:solidFill>
                  <a:srgbClr val="22222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3200" b="0" i="0" u="none" strike="noStrike" spc="-200" dirty="0" err="1">
                <a:solidFill>
                  <a:srgbClr val="22222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탐지</a:t>
            </a:r>
            <a:r>
              <a:rPr lang="en-US" sz="3200" b="0" i="0" u="none" strike="noStrike" spc="-200" dirty="0">
                <a:solidFill>
                  <a:srgbClr val="22222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3200" b="0" i="0" u="none" strike="noStrike" spc="-200" dirty="0" err="1">
                <a:solidFill>
                  <a:srgbClr val="22222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모드</a:t>
            </a:r>
            <a:r>
              <a:rPr lang="en-US" sz="3200" b="0" i="0" u="none" strike="noStrike" spc="-200" dirty="0">
                <a:solidFill>
                  <a:srgbClr val="22222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: </a:t>
            </a:r>
            <a:r>
              <a:rPr lang="en-US" sz="3200" b="0" i="0" u="none" strike="noStrike" spc="-200" dirty="0" err="1">
                <a:solidFill>
                  <a:srgbClr val="22222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벽면</a:t>
            </a:r>
            <a:r>
              <a:rPr lang="en-US" sz="3200" b="0" i="0" u="none" strike="noStrike" spc="-200" dirty="0">
                <a:solidFill>
                  <a:srgbClr val="22222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3200" b="0" i="0" u="none" strike="noStrike" spc="-200" dirty="0" err="1">
                <a:solidFill>
                  <a:srgbClr val="22222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스캔으로</a:t>
            </a:r>
            <a:r>
              <a:rPr lang="en-US" sz="3200" b="0" i="0" u="none" strike="noStrike" spc="-200" dirty="0">
                <a:solidFill>
                  <a:srgbClr val="22222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3200" b="0" i="0" u="none" strike="noStrike" spc="-200" dirty="0" err="1">
                <a:solidFill>
                  <a:srgbClr val="22222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전선</a:t>
            </a:r>
            <a:r>
              <a:rPr lang="en-US" sz="3200" b="0" i="0" u="none" strike="noStrike" spc="-200" dirty="0">
                <a:solidFill>
                  <a:srgbClr val="22222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3200" b="0" i="0" u="none" strike="noStrike" spc="-200" dirty="0" err="1">
                <a:solidFill>
                  <a:srgbClr val="22222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경로</a:t>
            </a:r>
            <a:r>
              <a:rPr lang="en-US" sz="3200" b="0" i="0" u="none" strike="noStrike" spc="-200" dirty="0">
                <a:solidFill>
                  <a:srgbClr val="22222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3200" b="0" i="0" u="none" strike="noStrike" spc="-200" dirty="0" err="1">
                <a:solidFill>
                  <a:srgbClr val="22222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실시간</a:t>
            </a:r>
            <a:r>
              <a:rPr lang="en-US" sz="3200" b="0" i="0" u="none" strike="noStrike" spc="-200" dirty="0">
                <a:solidFill>
                  <a:srgbClr val="22222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3200" b="0" i="0" u="none" strike="noStrike" spc="-200" dirty="0" err="1">
                <a:solidFill>
                  <a:srgbClr val="22222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추적·정확</a:t>
            </a:r>
            <a:r>
              <a:rPr lang="en-US" sz="3200" b="0" i="0" u="none" strike="noStrike" spc="-200" dirty="0">
                <a:solidFill>
                  <a:srgbClr val="22222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3200" b="0" i="0" u="none" strike="noStrike" spc="-200" dirty="0" err="1">
                <a:solidFill>
                  <a:srgbClr val="22222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드로잉</a:t>
            </a:r>
            <a:r>
              <a:rPr lang="en-US" sz="3200" b="0" i="0" u="none" strike="noStrike" spc="-200" dirty="0">
                <a:solidFill>
                  <a:srgbClr val="22222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
- </a:t>
            </a:r>
            <a:r>
              <a:rPr lang="en-US" sz="3200" b="0" i="0" u="none" strike="noStrike" spc="-200" dirty="0" err="1">
                <a:solidFill>
                  <a:srgbClr val="22222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수평계</a:t>
            </a:r>
            <a:r>
              <a:rPr lang="en-US" sz="3200" b="0" i="0" u="none" strike="noStrike" spc="-200" dirty="0">
                <a:solidFill>
                  <a:srgbClr val="22222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3200" b="0" i="0" u="none" strike="noStrike" spc="-200" dirty="0" err="1">
                <a:solidFill>
                  <a:srgbClr val="22222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모드</a:t>
            </a:r>
            <a:r>
              <a:rPr lang="en-US" sz="3200" b="0" i="0" u="none" strike="noStrike" spc="-200" dirty="0">
                <a:solidFill>
                  <a:srgbClr val="22222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: 0.1° </a:t>
            </a:r>
            <a:r>
              <a:rPr lang="en-US" sz="3200" b="0" i="0" u="none" strike="noStrike" spc="-200" dirty="0" err="1">
                <a:solidFill>
                  <a:srgbClr val="22222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단위</a:t>
            </a:r>
            <a:r>
              <a:rPr lang="en-US" sz="3200" b="0" i="0" u="none" strike="noStrike" spc="-200" dirty="0">
                <a:solidFill>
                  <a:srgbClr val="22222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3200" b="0" i="0" u="none" strike="noStrike" spc="-200" dirty="0" err="1">
                <a:solidFill>
                  <a:srgbClr val="22222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제어</a:t>
            </a:r>
            <a:r>
              <a:rPr lang="en-US" sz="3200" b="0" i="0" u="none" strike="noStrike" spc="-200" dirty="0">
                <a:solidFill>
                  <a:srgbClr val="22222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및 </a:t>
            </a:r>
            <a:r>
              <a:rPr lang="en-US" sz="3200" b="0" i="0" u="none" strike="noStrike" spc="-200" dirty="0" err="1">
                <a:solidFill>
                  <a:srgbClr val="22222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수평</a:t>
            </a:r>
            <a:r>
              <a:rPr lang="en-US" sz="3200" b="0" i="0" u="none" strike="noStrike" spc="-200" dirty="0">
                <a:solidFill>
                  <a:srgbClr val="22222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3200" b="0" i="0" u="none" strike="noStrike" spc="-200" dirty="0" err="1">
                <a:solidFill>
                  <a:srgbClr val="22222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일치</a:t>
            </a:r>
            <a:r>
              <a:rPr lang="en-US" sz="3200" b="0" i="0" u="none" strike="noStrike" spc="-200" dirty="0">
                <a:solidFill>
                  <a:srgbClr val="22222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시 </a:t>
            </a:r>
            <a:r>
              <a:rPr lang="en-US" sz="3200" b="0" i="0" u="none" strike="noStrike" spc="-200" dirty="0" err="1">
                <a:solidFill>
                  <a:srgbClr val="22222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오렌지</a:t>
            </a:r>
            <a:r>
              <a:rPr lang="en-US" sz="3200" b="0" i="0" u="none" strike="noStrike" spc="-200" dirty="0">
                <a:solidFill>
                  <a:srgbClr val="22222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링 </a:t>
            </a:r>
            <a:r>
              <a:rPr lang="en-US" sz="3200" b="0" i="0" u="none" strike="noStrike" spc="-200" dirty="0" err="1">
                <a:solidFill>
                  <a:srgbClr val="22222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피드백</a:t>
            </a:r>
            <a:r>
              <a:rPr lang="en-US" sz="3200" b="0" i="0" u="none" strike="noStrike" spc="-200" dirty="0">
                <a:solidFill>
                  <a:srgbClr val="22222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
</a:t>
            </a:r>
            <a:r>
              <a:rPr lang="en-US" sz="3200" b="0" i="0" u="none" strike="noStrike" spc="-200" dirty="0" err="1">
                <a:solidFill>
                  <a:srgbClr val="22222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안전과</a:t>
            </a:r>
            <a:r>
              <a:rPr lang="en-US" sz="3200" b="0" i="0" u="none" strike="noStrike" spc="-200" dirty="0">
                <a:solidFill>
                  <a:srgbClr val="22222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3200" b="0" i="0" u="none" strike="noStrike" spc="-200" dirty="0" err="1">
                <a:solidFill>
                  <a:srgbClr val="22222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정밀함을</a:t>
            </a:r>
            <a:r>
              <a:rPr lang="en-US" sz="3200" b="0" i="0" u="none" strike="noStrike" spc="-200" dirty="0">
                <a:solidFill>
                  <a:srgbClr val="22222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3200" b="0" i="0" u="none" strike="noStrike" spc="-200" dirty="0" err="1">
                <a:solidFill>
                  <a:srgbClr val="22222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더하다</a:t>
            </a:r>
            <a:r>
              <a:rPr lang="en-US" sz="3200" b="0" i="0" u="none" strike="noStrike" spc="-200" dirty="0">
                <a:solidFill>
                  <a:srgbClr val="22222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SMART WALL-SAVER
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765300" y="1550780"/>
            <a:ext cx="8940800" cy="1003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5500" b="0" i="0" u="none" strike="noStrike" spc="-3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SemiBold"/>
                <a:ea typeface="Pretendard SemiBold"/>
                <a:cs typeface="Pretendard SemiBold"/>
              </a:rPr>
              <a:t>시연</a:t>
            </a:r>
            <a:r>
              <a:rPr lang="en-US" sz="5500" b="0" i="0" u="none" strike="noStrike" spc="-3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ko-KR" altLang="en-US" sz="5500" b="0" i="0" u="none" strike="noStrike" spc="-3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SemiBold"/>
                <a:ea typeface="Pretendard SemiBold"/>
                <a:cs typeface="Pretendard SemiBold"/>
              </a:rPr>
              <a:t>결과</a:t>
            </a:r>
            <a:endParaRPr lang="en-US" sz="5500" b="0" i="0" u="none" strike="noStrike" spc="-300" dirty="0">
              <a:solidFill>
                <a:schemeClr val="tx1">
                  <a:lumMod val="65000"/>
                  <a:lumOff val="35000"/>
                </a:schemeClr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54600" y="7620000"/>
            <a:ext cx="5295900" cy="54991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2933700" y="11506200"/>
            <a:ext cx="18503900" cy="622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3200" b="0" i="0" u="none" strike="noStrike" spc="-200" dirty="0" err="1">
                <a:solidFill>
                  <a:srgbClr val="222222"/>
                </a:solidFill>
                <a:latin typeface="Pretendard Regular"/>
                <a:ea typeface="Pretendard Regular"/>
                <a:cs typeface="Pretendard Regular"/>
              </a:rPr>
              <a:t>깃허브</a:t>
            </a:r>
            <a:r>
              <a:rPr lang="en-US" sz="3200" b="0" i="0" u="none" strike="noStrike" spc="-200" dirty="0">
                <a:solidFill>
                  <a:srgbClr val="222222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200" dirty="0" err="1">
                <a:solidFill>
                  <a:srgbClr val="222222"/>
                </a:solidFill>
                <a:latin typeface="Pretendard Regular"/>
                <a:ea typeface="Pretendard Regular"/>
                <a:cs typeface="Pretendard Regular"/>
              </a:rPr>
              <a:t>주소</a:t>
            </a:r>
            <a:r>
              <a:rPr lang="en-US" sz="3200" b="0" i="0" u="none" strike="noStrike" spc="-200" dirty="0">
                <a:solidFill>
                  <a:srgbClr val="222222"/>
                </a:solidFill>
                <a:latin typeface="Pretendard Regular"/>
                <a:ea typeface="Pretendard Regular"/>
                <a:cs typeface="Pretendard Regular"/>
              </a:rPr>
              <a:t> : https://github.com/limssu/Smart-Wall-Saver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" y="876300"/>
            <a:ext cx="22491700" cy="11950700"/>
          </a:xfrm>
          <a:prstGeom prst="rect">
            <a:avLst/>
          </a:prstGeom>
          <a:effectLst>
            <a:outerShdw blurRad="597747" dir="4080000">
              <a:srgbClr val="8FD0FE">
                <a:alpha val="30000"/>
              </a:srgbClr>
            </a:outerShdw>
          </a:effectLst>
        </p:spPr>
      </p:pic>
      <p:sp>
        <p:nvSpPr>
          <p:cNvPr id="3" name="TextBox 3"/>
          <p:cNvSpPr txBox="1"/>
          <p:nvPr/>
        </p:nvSpPr>
        <p:spPr>
          <a:xfrm>
            <a:off x="1524000" y="1345334"/>
            <a:ext cx="8940800" cy="1016000"/>
          </a:xfrm>
          <a:prstGeom prst="rect">
            <a:avLst/>
          </a:prstGeom>
          <a:effectLst>
            <a:outerShdw blurRad="46567" dist="4657" dir="4080000">
              <a:srgbClr val="FFFFFF">
                <a:alpha val="55000"/>
              </a:srgbClr>
            </a:outerShdw>
          </a:effectLst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5500" b="0" i="0" u="none" strike="noStrike" spc="-3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SemiBold"/>
                <a:ea typeface="Pretendard SemiBold"/>
                <a:cs typeface="Pretendard SemiBold"/>
              </a:rPr>
              <a:t>시연</a:t>
            </a:r>
            <a:r>
              <a:rPr lang="en-US" sz="5500" b="0" i="0" u="none" strike="noStrike" spc="-3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5500" b="0" i="0" u="none" strike="noStrike" spc="-3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SemiBold"/>
                <a:ea typeface="Pretendard SemiBold"/>
                <a:cs typeface="Pretendard SemiBold"/>
              </a:rPr>
              <a:t>영상</a:t>
            </a:r>
            <a:endParaRPr lang="en-US" sz="5500" b="0" i="0" u="none" strike="noStrike" spc="-300" dirty="0">
              <a:solidFill>
                <a:schemeClr val="tx1">
                  <a:lumMod val="65000"/>
                  <a:lumOff val="35000"/>
                </a:schemeClr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pic>
        <p:nvPicPr>
          <p:cNvPr id="5" name="스마트센서 시연 영상">
            <a:hlinkClick r:id="" action="ppaction://media"/>
            <a:extLst>
              <a:ext uri="{FF2B5EF4-FFF2-40B4-BE49-F238E27FC236}">
                <a16:creationId xmlns:a16="http://schemas.microsoft.com/office/drawing/2014/main" id="{E297206A-1EFA-0854-E618-77F9FC2001AE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4876800" y="2057400"/>
            <a:ext cx="17830800" cy="100298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3567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774700" y="4978400"/>
            <a:ext cx="22834600" cy="9779000"/>
          </a:xfrm>
          <a:prstGeom prst="rect">
            <a:avLst/>
          </a:prstGeom>
          <a:effectLst>
            <a:outerShdw blurRad="440243" dist="75255" dir="2700000">
              <a:srgbClr val="256BFF">
                <a:alpha val="15000"/>
              </a:srgbClr>
            </a:outerShdw>
          </a:effectLst>
        </p:spPr>
      </p:pic>
      <p:sp>
        <p:nvSpPr>
          <p:cNvPr id="3" name="TextBox 3"/>
          <p:cNvSpPr txBox="1"/>
          <p:nvPr/>
        </p:nvSpPr>
        <p:spPr>
          <a:xfrm>
            <a:off x="5715000" y="2159000"/>
            <a:ext cx="12941300" cy="850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4800" b="0" i="0" u="none" strike="noStrike">
                <a:solidFill>
                  <a:srgbClr val="256BFF"/>
                </a:solidFill>
                <a:latin typeface="Pretendard Bold"/>
                <a:ea typeface="Pretendard Bold"/>
                <a:cs typeface="Pretendard Bold"/>
              </a:rPr>
              <a:t>Git Hub 형상 관리 및 모듈화 개발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124200" y="3225800"/>
            <a:ext cx="19291300" cy="1143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3200" b="0" i="0" u="none" strike="noStrike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GitHub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협업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방식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: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하나의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메인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저장소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안에서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 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SafetyScan과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SmartLeveler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패키지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완전히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분리</a:t>
            </a:r>
            <a:endParaRPr lang="en-US" sz="3200" b="0" i="0" u="none" strike="noStrike" dirty="0">
              <a:solidFill>
                <a:srgbClr val="00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lvl="0" algn="ctr">
              <a:lnSpc>
                <a:spcPct val="116199"/>
              </a:lnSpc>
            </a:pPr>
            <a:r>
              <a:rPr lang="en-US" sz="3200" b="0" i="0" u="none" strike="noStrike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-&gt;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독립적인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.kt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소스코드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파일로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개발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진행</a:t>
            </a:r>
            <a:endParaRPr lang="en-US" sz="3200" b="0" i="0" u="none" strike="noStrike" dirty="0">
              <a:solidFill>
                <a:srgbClr val="00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3835400" y="6426200"/>
            <a:ext cx="8940800" cy="6451600"/>
          </a:xfrm>
          <a:prstGeom prst="rect">
            <a:avLst/>
          </a:prstGeom>
          <a:effectLst>
            <a:outerShdw blurRad="290602" dist="49675" dir="2700000">
              <a:srgbClr val="256BFF">
                <a:alpha val="80000"/>
              </a:srgbClr>
            </a:outerShdw>
          </a:effectLst>
        </p:spPr>
      </p:pic>
      <p:sp>
        <p:nvSpPr>
          <p:cNvPr id="6" name="TextBox 6"/>
          <p:cNvSpPr txBox="1"/>
          <p:nvPr/>
        </p:nvSpPr>
        <p:spPr>
          <a:xfrm>
            <a:off x="4610100" y="8496300"/>
            <a:ext cx="7696200" cy="4102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1" indent="-342900" algn="l">
              <a:lnSpc>
                <a:spcPct val="132800"/>
              </a:lnSpc>
              <a:buClr>
                <a:srgbClr val="000000"/>
              </a:buClr>
              <a:buFont typeface="Arial"/>
              <a:buChar char="●"/>
            </a:pPr>
            <a:r>
              <a:rPr lang="en-US" sz="2933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기획 및 시각화: 프로젝트 총괄 기획 및 ARCore 공간 추적 엔진 기반 벽면 배선 매핑 로직 연동</a:t>
            </a:r>
          </a:p>
          <a:p>
            <a:pPr marL="342900" lvl="1" indent="-342900" algn="l">
              <a:lnSpc>
                <a:spcPct val="132800"/>
              </a:lnSpc>
              <a:buClr>
                <a:srgbClr val="000000"/>
              </a:buClr>
              <a:buFont typeface="Arial"/>
              <a:buChar char="●"/>
            </a:pPr>
            <a:endParaRPr lang="en-US" sz="2933" b="0" i="0" u="none" strike="noStrike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  <a:p>
            <a:pPr marL="342900" lvl="1" indent="-342900" algn="l">
              <a:lnSpc>
                <a:spcPct val="132800"/>
              </a:lnSpc>
              <a:buClr>
                <a:srgbClr val="000000"/>
              </a:buClr>
              <a:buFont typeface="Arial"/>
              <a:buChar char="●"/>
            </a:pPr>
            <a:r>
              <a:rPr lang="en-US" sz="2933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사용성 최적화: 시공 환경(바닥/벽면) 구분을 위한 이원화 측정 시스템 수학적 축 전환 가이드 제안</a:t>
            </a:r>
          </a:p>
          <a:p>
            <a:pPr marL="342900" lvl="1" indent="-342900" algn="l">
              <a:lnSpc>
                <a:spcPct val="132800"/>
              </a:lnSpc>
              <a:buClr>
                <a:srgbClr val="000000"/>
              </a:buClr>
              <a:buFont typeface="Arial"/>
              <a:buChar char="●"/>
            </a:pPr>
            <a:endParaRPr lang="en-US" sz="2933" b="0" i="0" u="none" strike="noStrike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  <a:p>
            <a:pPr marL="342900" lvl="1" indent="-342900" algn="l">
              <a:lnSpc>
                <a:spcPct val="132800"/>
              </a:lnSpc>
              <a:buClr>
                <a:srgbClr val="000000"/>
              </a:buClr>
              <a:buFont typeface="Arial"/>
              <a:buChar char="●"/>
            </a:pPr>
            <a:r>
              <a:rPr lang="en-US" sz="2933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통합 빌드 현장 테스트 수행</a:t>
            </a: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6146800" y="6807200"/>
            <a:ext cx="4495800" cy="9525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0800000">
            <a:off x="5969000" y="6781800"/>
            <a:ext cx="4152900" cy="10033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6337300" y="7035800"/>
            <a:ext cx="3530600" cy="520700"/>
          </a:xfrm>
          <a:prstGeom prst="rect">
            <a:avLst/>
          </a:prstGeom>
        </p:spPr>
        <p:txBody>
          <a:bodyPr lIns="0" tIns="37253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2933" b="0" i="0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김선재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765800" y="7899400"/>
            <a:ext cx="46863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2666" b="0" i="0" u="none" strike="noStrike">
                <a:solidFill>
                  <a:srgbClr val="256BFF"/>
                </a:solidFill>
                <a:latin typeface="Pretendard SemiBold"/>
                <a:ea typeface="Pretendard SemiBold"/>
                <a:cs typeface="Pretendard SemiBold"/>
              </a:rPr>
              <a:t>202647012</a:t>
            </a: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6">
            <a:alphaModFix amt="80000"/>
          </a:blip>
          <a:stretch>
            <a:fillRect/>
          </a:stretch>
        </p:blipFill>
        <p:spPr>
          <a:xfrm>
            <a:off x="13474700" y="6426200"/>
            <a:ext cx="8877300" cy="6451600"/>
          </a:xfrm>
          <a:prstGeom prst="rect">
            <a:avLst/>
          </a:prstGeom>
          <a:effectLst>
            <a:outerShdw blurRad="290602" dist="49675" dir="2700000">
              <a:srgbClr val="256BFF">
                <a:alpha val="80000"/>
              </a:srgbClr>
            </a:outerShdw>
          </a:effectLst>
        </p:spPr>
      </p:pic>
      <p:sp>
        <p:nvSpPr>
          <p:cNvPr id="12" name="TextBox 12"/>
          <p:cNvSpPr txBox="1"/>
          <p:nvPr/>
        </p:nvSpPr>
        <p:spPr>
          <a:xfrm>
            <a:off x="13855700" y="8483600"/>
            <a:ext cx="8610600" cy="4102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1" indent="-342900" algn="l">
              <a:lnSpc>
                <a:spcPct val="132800"/>
              </a:lnSpc>
              <a:buClr>
                <a:srgbClr val="000000"/>
              </a:buClr>
              <a:buFont typeface="Arial"/>
              <a:buChar char="●"/>
            </a:pPr>
            <a:r>
              <a:rPr lang="en-US" sz="2933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핵심 로직 구현: 안드로이드 가속도 및 지자기 센서 수집 알고리즘 설계 및 2차 저역통과필터 구현</a:t>
            </a:r>
          </a:p>
          <a:p>
            <a:pPr marL="342900" lvl="1" indent="-342900" algn="l">
              <a:lnSpc>
                <a:spcPct val="132800"/>
              </a:lnSpc>
              <a:buClr>
                <a:srgbClr val="000000"/>
              </a:buClr>
              <a:buFont typeface="Arial"/>
              <a:buChar char="●"/>
            </a:pPr>
            <a:r>
              <a:rPr lang="en-US" sz="2933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UI/UX 디자인: 프로젝트 전반의 미니멀 다크모드 및 오렌지 링 피드백 시스템 컴포넌트 마크업</a:t>
            </a:r>
          </a:p>
          <a:p>
            <a:pPr marL="342900" lvl="1" indent="-342900" algn="l">
              <a:lnSpc>
                <a:spcPct val="132800"/>
              </a:lnSpc>
              <a:buClr>
                <a:srgbClr val="000000"/>
              </a:buClr>
              <a:buFont typeface="Arial"/>
              <a:buChar char="●"/>
            </a:pPr>
            <a:r>
              <a:rPr lang="en-US" sz="2933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예외 처리 코딩: 수평 진입 시 무한 진동 오버헤드를 방지하기 위한 단발성 예외 처리 플래그 플로우 개발</a:t>
            </a:r>
          </a:p>
          <a:p>
            <a:pPr lvl="0" algn="l">
              <a:lnSpc>
                <a:spcPct val="132800"/>
              </a:lnSpc>
            </a:pPr>
            <a:endParaRPr lang="en-US" sz="2933" b="0" i="0" u="none" strike="noStrike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0800000">
            <a:off x="15938500" y="6807200"/>
            <a:ext cx="4495800" cy="9525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0800000">
            <a:off x="15760700" y="6781800"/>
            <a:ext cx="4152900" cy="10033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16129000" y="7035800"/>
            <a:ext cx="3530600" cy="520700"/>
          </a:xfrm>
          <a:prstGeom prst="rect">
            <a:avLst/>
          </a:prstGeom>
        </p:spPr>
        <p:txBody>
          <a:bodyPr lIns="0" tIns="37253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2933" b="0" i="0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임수정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5709900" y="7899400"/>
            <a:ext cx="46863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2666" b="0" i="0" u="none" strike="noStrike">
                <a:solidFill>
                  <a:srgbClr val="256BFF"/>
                </a:solidFill>
                <a:latin typeface="Pretendard SemiBold"/>
                <a:ea typeface="Pretendard SemiBold"/>
                <a:cs typeface="Pretendard SemiBold"/>
              </a:rPr>
              <a:t>202647017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74700" y="990600"/>
            <a:ext cx="6769100" cy="952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5500" b="0" i="0" u="none" strike="noStrike" dirty="0" err="1">
                <a:solidFill>
                  <a:srgbClr val="4E4E4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협업</a:t>
            </a:r>
            <a:r>
              <a:rPr lang="en-US" sz="5500" b="0" i="0" u="none" strike="noStrike" dirty="0">
                <a:solidFill>
                  <a:srgbClr val="4E4E4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</a:t>
            </a:r>
            <a:r>
              <a:rPr lang="en-US" sz="5500" b="0" i="0" u="none" strike="noStrike" dirty="0" err="1">
                <a:solidFill>
                  <a:srgbClr val="4E4E4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과정</a:t>
            </a:r>
            <a:r>
              <a:rPr lang="en-US" sz="5500" b="0" i="0" u="none" strike="noStrike" dirty="0">
                <a:solidFill>
                  <a:srgbClr val="4E4E4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및 </a:t>
            </a:r>
            <a:r>
              <a:rPr lang="en-US" sz="5500" b="0" i="0" u="none" strike="noStrike" dirty="0" err="1">
                <a:solidFill>
                  <a:srgbClr val="4E4E4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팀워크</a:t>
            </a:r>
            <a:endParaRPr lang="en-US" sz="5500" b="0" i="0" u="none" strike="noStrike" dirty="0">
              <a:solidFill>
                <a:srgbClr val="4E4E4E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774700" y="596900"/>
            <a:ext cx="4368800" cy="647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333" b="0" i="0" u="none" strike="noStrike">
                <a:solidFill>
                  <a:srgbClr val="256BFF"/>
                </a:solidFill>
                <a:latin typeface="Prompt-SemiBold"/>
                <a:ea typeface="Prompt-SemiBold"/>
                <a:cs typeface="Prompt-SemiBold"/>
              </a:rPr>
              <a:t>Team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11200" y="5410200"/>
            <a:ext cx="4076700" cy="685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3857" b="0" i="0" u="none" strike="noStrike" dirty="0" err="1">
                <a:solidFill>
                  <a:srgbClr val="00000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팀원별</a:t>
            </a:r>
            <a:r>
              <a:rPr lang="en-US" sz="3857" b="0" i="0" u="none" strike="noStrike" dirty="0">
                <a:solidFill>
                  <a:srgbClr val="00000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</a:t>
            </a:r>
            <a:r>
              <a:rPr lang="en-US" sz="3857" b="0" i="0" u="none" strike="noStrike" dirty="0" err="1">
                <a:solidFill>
                  <a:srgbClr val="00000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역할</a:t>
            </a:r>
            <a:r>
              <a:rPr lang="en-US" sz="3857" b="0" i="0" u="none" strike="noStrike" dirty="0">
                <a:solidFill>
                  <a:srgbClr val="00000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</a:t>
            </a:r>
            <a:r>
              <a:rPr lang="en-US" sz="3857" b="0" i="0" u="none" strike="noStrike" dirty="0" err="1">
                <a:solidFill>
                  <a:srgbClr val="00000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분담</a:t>
            </a:r>
            <a:endParaRPr lang="en-US" sz="3857" b="0" i="0" u="none" strike="noStrike" dirty="0">
              <a:solidFill>
                <a:srgbClr val="000000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1623291" y="3353956"/>
            <a:ext cx="23507700" cy="4216400"/>
          </a:xfrm>
          <a:prstGeom prst="rect">
            <a:avLst/>
          </a:prstGeom>
          <a:effectLst>
            <a:outerShdw blurRad="189755" dist="32437" dir="2700000">
              <a:srgbClr val="256BFF">
                <a:alpha val="15000"/>
              </a:srgbClr>
            </a:outerShdw>
          </a:effectLst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2374900" y="2908300"/>
            <a:ext cx="5092700" cy="952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2209800" y="2882900"/>
            <a:ext cx="4152900" cy="10033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2279649" y="3162300"/>
            <a:ext cx="4013200" cy="406400"/>
          </a:xfrm>
          <a:prstGeom prst="rect">
            <a:avLst/>
          </a:prstGeom>
        </p:spPr>
        <p:txBody>
          <a:bodyPr lIns="0" tIns="3556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2800" b="0" i="0" u="none" strike="noStrike" dirty="0" err="1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프로젝트를</a:t>
            </a:r>
            <a:r>
              <a:rPr lang="en-US" sz="2800" b="0" i="0" u="none" strike="noStrike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sz="2800" b="0" i="0" u="none" strike="noStrike" dirty="0" err="1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통해</a:t>
            </a:r>
            <a:r>
              <a:rPr lang="en-US" sz="2800" b="0" i="0" u="none" strike="noStrike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sz="2800" b="0" i="0" u="none" strike="noStrike" dirty="0" err="1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배운</a:t>
            </a:r>
            <a:r>
              <a:rPr lang="en-US" sz="2800" b="0" i="0" u="none" strike="noStrike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점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5">
            <a:alphaModFix amt="59000"/>
          </a:blip>
          <a:stretch>
            <a:fillRect/>
          </a:stretch>
        </p:blipFill>
        <p:spPr>
          <a:xfrm rot="1860000">
            <a:off x="18389600" y="-368300"/>
            <a:ext cx="9385300" cy="93853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>
            <a:alphaModFix amt="80000"/>
          </a:blip>
          <a:stretch>
            <a:fillRect/>
          </a:stretch>
        </p:blipFill>
        <p:spPr>
          <a:xfrm>
            <a:off x="1625600" y="9296400"/>
            <a:ext cx="7848600" cy="5676900"/>
          </a:xfrm>
          <a:prstGeom prst="rect">
            <a:avLst/>
          </a:prstGeom>
          <a:effectLst>
            <a:outerShdw blurRad="255213" dist="43626" dir="2700000">
              <a:srgbClr val="256BFF">
                <a:alpha val="25000"/>
              </a:srgbClr>
            </a:outerShdw>
          </a:effectLst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>
            <a:alphaModFix amt="80000"/>
          </a:blip>
          <a:stretch>
            <a:fillRect/>
          </a:stretch>
        </p:blipFill>
        <p:spPr>
          <a:xfrm>
            <a:off x="8788400" y="9296400"/>
            <a:ext cx="7848600" cy="5676900"/>
          </a:xfrm>
          <a:prstGeom prst="rect">
            <a:avLst/>
          </a:prstGeom>
          <a:effectLst>
            <a:outerShdw blurRad="255213" dist="43626" dir="2700000">
              <a:srgbClr val="256BFF">
                <a:alpha val="70000"/>
              </a:srgbClr>
            </a:outerShdw>
          </a:effectLst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>
            <a:alphaModFix amt="80000"/>
          </a:blip>
          <a:stretch>
            <a:fillRect/>
          </a:stretch>
        </p:blipFill>
        <p:spPr>
          <a:xfrm>
            <a:off x="15963900" y="9296400"/>
            <a:ext cx="7848600" cy="5676900"/>
          </a:xfrm>
          <a:prstGeom prst="rect">
            <a:avLst/>
          </a:prstGeom>
          <a:effectLst>
            <a:outerShdw blurRad="255213" dist="43626" dir="2700000">
              <a:srgbClr val="256BFF">
                <a:alpha val="100000"/>
              </a:srgbClr>
            </a:outerShdw>
          </a:effectLst>
        </p:spPr>
      </p:pic>
      <p:sp>
        <p:nvSpPr>
          <p:cNvPr id="10" name="TextBox 10"/>
          <p:cNvSpPr txBox="1"/>
          <p:nvPr/>
        </p:nvSpPr>
        <p:spPr>
          <a:xfrm>
            <a:off x="927100" y="914400"/>
            <a:ext cx="8509000" cy="952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5500" b="0" i="0" u="none" strike="noStrike" dirty="0" err="1">
                <a:solidFill>
                  <a:srgbClr val="4E4E4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마무리</a:t>
            </a:r>
            <a:r>
              <a:rPr lang="en-US" sz="5500" b="0" i="0" u="none" strike="noStrike" dirty="0">
                <a:solidFill>
                  <a:srgbClr val="4E4E4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및 </a:t>
            </a:r>
            <a:r>
              <a:rPr lang="en-US" sz="5500" b="0" i="0" u="none" strike="noStrike" dirty="0" err="1">
                <a:solidFill>
                  <a:srgbClr val="4E4E4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향후</a:t>
            </a:r>
            <a:r>
              <a:rPr lang="en-US" sz="5500" b="0" i="0" u="none" strike="noStrike" dirty="0">
                <a:solidFill>
                  <a:srgbClr val="4E4E4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</a:t>
            </a:r>
            <a:r>
              <a:rPr lang="en-US" sz="5500" b="0" i="0" u="none" strike="noStrike" dirty="0" err="1">
                <a:solidFill>
                  <a:srgbClr val="4E4E4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개선</a:t>
            </a:r>
            <a:r>
              <a:rPr lang="en-US" sz="5500" b="0" i="0" u="none" strike="noStrike" dirty="0">
                <a:solidFill>
                  <a:srgbClr val="4E4E4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</a:t>
            </a:r>
            <a:r>
              <a:rPr lang="en-US" sz="5500" b="0" i="0" u="none" strike="noStrike" dirty="0" err="1">
                <a:solidFill>
                  <a:srgbClr val="4E4E4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방향</a:t>
            </a:r>
            <a:endParaRPr lang="en-US" sz="5500" b="0" i="0" u="none" strike="noStrike" dirty="0">
              <a:solidFill>
                <a:srgbClr val="4E4E4E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875000" y="8064500"/>
            <a:ext cx="6807200" cy="8763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364691" y="5589156"/>
            <a:ext cx="7988300" cy="53721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699500" y="8064500"/>
            <a:ext cx="6807200" cy="8763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02600" y="5651500"/>
            <a:ext cx="7988300" cy="53721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524000" y="8064500"/>
            <a:ext cx="6807200" cy="8763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7100" y="5676900"/>
            <a:ext cx="7988300" cy="5372100"/>
          </a:xfrm>
          <a:prstGeom prst="rect">
            <a:avLst/>
          </a:prstGeom>
        </p:spPr>
      </p:pic>
      <p:sp>
        <p:nvSpPr>
          <p:cNvPr id="17" name="TextBox 17"/>
          <p:cNvSpPr txBox="1"/>
          <p:nvPr/>
        </p:nvSpPr>
        <p:spPr>
          <a:xfrm>
            <a:off x="2904836" y="9752444"/>
            <a:ext cx="5690756" cy="4953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1" indent="-342900">
              <a:lnSpc>
                <a:spcPct val="131140"/>
              </a:lnSpc>
              <a:buClr>
                <a:srgbClr val="000000"/>
              </a:buClr>
              <a:buFont typeface="Arial"/>
              <a:buChar char="●"/>
            </a:pPr>
            <a:r>
              <a:rPr lang="ko-KR" altLang="ko-KR" sz="28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하드웨어 노이즈 극복 및 정밀도 확보</a:t>
            </a:r>
            <a:endParaRPr lang="en-US" altLang="ko-KR" sz="28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lvl="1">
              <a:lnSpc>
                <a:spcPct val="131140"/>
              </a:lnSpc>
              <a:buClr>
                <a:srgbClr val="000000"/>
              </a:buClr>
            </a:pPr>
            <a:r>
              <a:rPr lang="ko-KR" altLang="ko-KR" sz="26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손떨림으로</a:t>
            </a:r>
            <a:r>
              <a:rPr lang="ko-KR" altLang="ko-KR" sz="2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인한 센서의 미세한 떨림 문제를 소프트웨어 필터(LPF)로 완벽히 보정하여 0.1° 단위</a:t>
            </a:r>
            <a:r>
              <a:rPr lang="ko-KR" altLang="en-US" sz="2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의</a:t>
            </a:r>
            <a:r>
              <a:rPr lang="ko-KR" altLang="ko-KR" sz="2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안정성 구현</a:t>
            </a:r>
            <a:r>
              <a:rPr lang="en-US" sz="2600" i="0" u="none" strike="noStrike" spc="-10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</a:p>
          <a:p>
            <a:pPr marL="342900" lvl="1" indent="-342900">
              <a:lnSpc>
                <a:spcPct val="131140"/>
              </a:lnSpc>
              <a:buClr>
                <a:srgbClr val="000000"/>
              </a:buClr>
              <a:buFont typeface="Arial"/>
              <a:buChar char="●"/>
            </a:pPr>
            <a:r>
              <a:rPr lang="ko-KR" altLang="ko-KR" sz="28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시공 현장에 맞춘 사용자 중심(UX) </a:t>
            </a:r>
            <a:endParaRPr lang="en-US" altLang="ko-KR" sz="28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lvl="1">
              <a:lnSpc>
                <a:spcPct val="131140"/>
              </a:lnSpc>
              <a:buClr>
                <a:srgbClr val="000000"/>
              </a:buClr>
            </a:pPr>
            <a:r>
              <a:rPr lang="en-US" sz="2800" b="1" i="0" u="none" strike="noStrike" spc="-10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 : </a:t>
            </a:r>
            <a:r>
              <a:rPr lang="ko-KR" altLang="ko-KR" sz="2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실제 사용 편의성을 고려해 </a:t>
            </a:r>
            <a:r>
              <a:rPr lang="ko-KR" altLang="ko-KR" sz="26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'바닥 </a:t>
            </a:r>
            <a:r>
              <a:rPr lang="ko-KR" altLang="ko-KR" sz="2600" b="1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모드'와</a:t>
            </a:r>
            <a:r>
              <a:rPr lang="ko-KR" altLang="ko-KR" sz="26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'벽면 </a:t>
            </a:r>
            <a:r>
              <a:rPr lang="ko-KR" altLang="ko-KR" sz="2600" b="1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모드'로</a:t>
            </a:r>
            <a:r>
              <a:rPr lang="ko-KR" altLang="ko-KR" sz="26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수평 기준을 </a:t>
            </a:r>
            <a:r>
              <a:rPr lang="ko-KR" altLang="ko-KR" sz="2600" b="1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이원화</a:t>
            </a:r>
            <a:r>
              <a:rPr lang="ko-KR" altLang="ko-KR" sz="26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하여</a:t>
            </a:r>
            <a:r>
              <a:rPr lang="ko-KR" altLang="ko-KR" sz="2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전문 인테리어 장비 수준의 실무형 편의성 달성</a:t>
            </a:r>
            <a:endParaRPr lang="en-US" sz="2600" b="1" i="0" u="none" strike="noStrike" spc="-10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2324100" y="8229600"/>
            <a:ext cx="1574800" cy="546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798" b="0" i="0" u="none" strike="noStrike">
                <a:solidFill>
                  <a:srgbClr val="FFFFFF"/>
                </a:solidFill>
                <a:latin typeface="Prompt-SemiBold"/>
                <a:ea typeface="Prompt-SemiBold"/>
                <a:cs typeface="Prompt-SemiBold"/>
              </a:rPr>
              <a:t>Phase 1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886200" y="8242300"/>
            <a:ext cx="4038600" cy="444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800" b="0" i="0" u="none" strike="noStrike" dirty="0" err="1">
                <a:solidFill>
                  <a:srgbClr val="F3F7FF"/>
                </a:solidFill>
                <a:latin typeface="Pretendard SemiBold"/>
                <a:ea typeface="Pretendard SemiBold"/>
                <a:cs typeface="Pretendard SemiBold"/>
              </a:rPr>
              <a:t>잘된</a:t>
            </a:r>
            <a:r>
              <a:rPr lang="en-US" sz="2800" b="0" i="0" u="none" strike="noStrike" dirty="0">
                <a:solidFill>
                  <a:srgbClr val="F3F7FF"/>
                </a:solidFill>
                <a:latin typeface="Pretendard SemiBold"/>
                <a:ea typeface="Pretendard SemiBold"/>
                <a:cs typeface="Pretendard SemiBold"/>
              </a:rPr>
              <a:t> 점 — </a:t>
            </a:r>
            <a:r>
              <a:rPr lang="en-US" sz="2800" b="0" i="0" u="none" strike="noStrike" dirty="0" err="1">
                <a:solidFill>
                  <a:srgbClr val="F3F7FF"/>
                </a:solidFill>
                <a:latin typeface="Pretendard SemiBold"/>
                <a:ea typeface="Pretendard SemiBold"/>
                <a:cs typeface="Pretendard SemiBold"/>
              </a:rPr>
              <a:t>프로젝트</a:t>
            </a:r>
            <a:r>
              <a:rPr lang="en-US" sz="2800" b="0" i="0" u="none" strike="noStrike" dirty="0">
                <a:solidFill>
                  <a:srgbClr val="F3F7FF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2800" b="0" i="0" u="none" strike="noStrike" dirty="0" err="1">
                <a:solidFill>
                  <a:srgbClr val="F3F7FF"/>
                </a:solidFill>
                <a:latin typeface="Pretendard SemiBold"/>
                <a:ea typeface="Pretendard SemiBold"/>
                <a:cs typeface="Pretendard SemiBold"/>
              </a:rPr>
              <a:t>성과</a:t>
            </a:r>
            <a:endParaRPr lang="en-US" sz="2800" b="0" i="0" u="none" strike="noStrike" dirty="0">
              <a:solidFill>
                <a:srgbClr val="F3F7FF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9486900" y="8229600"/>
            <a:ext cx="1587500" cy="546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798" b="0" i="0" u="none" strike="noStrike">
                <a:solidFill>
                  <a:srgbClr val="FFFFFF"/>
                </a:solidFill>
                <a:latin typeface="Prompt-SemiBold"/>
                <a:ea typeface="Prompt-SemiBold"/>
                <a:cs typeface="Prompt-SemiBold"/>
              </a:rPr>
              <a:t>Phase 2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125200" y="8229600"/>
            <a:ext cx="4038600" cy="444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800" b="0" i="0" u="none" strike="noStrike" dirty="0" err="1">
                <a:solidFill>
                  <a:srgbClr val="F3F7FF"/>
                </a:solidFill>
                <a:latin typeface="Pretendard SemiBold"/>
                <a:ea typeface="Pretendard SemiBold"/>
                <a:cs typeface="Pretendard SemiBold"/>
              </a:rPr>
              <a:t>아쉬운</a:t>
            </a:r>
            <a:r>
              <a:rPr lang="en-US" sz="2800" b="0" i="0" u="none" strike="noStrike" dirty="0">
                <a:solidFill>
                  <a:srgbClr val="F3F7FF"/>
                </a:solidFill>
                <a:latin typeface="Pretendard SemiBold"/>
                <a:ea typeface="Pretendard SemiBold"/>
                <a:cs typeface="Pretendard SemiBold"/>
              </a:rPr>
              <a:t> 점 — </a:t>
            </a:r>
            <a:r>
              <a:rPr lang="en-US" sz="2800" b="0" i="0" u="none" strike="noStrike" dirty="0" err="1">
                <a:solidFill>
                  <a:srgbClr val="F3F7FF"/>
                </a:solidFill>
                <a:latin typeface="Pretendard SemiBold"/>
                <a:ea typeface="Pretendard SemiBold"/>
                <a:cs typeface="Pretendard SemiBold"/>
              </a:rPr>
              <a:t>프로젝트</a:t>
            </a:r>
            <a:r>
              <a:rPr lang="en-US" sz="2800" b="0" i="0" u="none" strike="noStrike" dirty="0">
                <a:solidFill>
                  <a:srgbClr val="F3F7FF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2800" b="0" i="0" u="none" strike="noStrike" dirty="0" err="1">
                <a:solidFill>
                  <a:srgbClr val="F3F7FF"/>
                </a:solidFill>
                <a:latin typeface="Pretendard SemiBold"/>
                <a:ea typeface="Pretendard SemiBold"/>
                <a:cs typeface="Pretendard SemiBold"/>
              </a:rPr>
              <a:t>한계</a:t>
            </a:r>
            <a:endParaRPr lang="en-US" sz="2800" b="0" i="0" u="none" strike="noStrike" dirty="0">
              <a:solidFill>
                <a:srgbClr val="F3F7FF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16662400" y="8229600"/>
            <a:ext cx="1574800" cy="546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798" b="0" i="0" u="none" strike="noStrike">
                <a:solidFill>
                  <a:srgbClr val="FFFFFF"/>
                </a:solidFill>
                <a:latin typeface="Prompt-SemiBold"/>
                <a:ea typeface="Prompt-SemiBold"/>
                <a:cs typeface="Prompt-SemiBold"/>
              </a:rPr>
              <a:t>Phase 3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8434050" y="8216900"/>
            <a:ext cx="40513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800" b="0" i="0" u="none" strike="noStrike" dirty="0" err="1">
                <a:solidFill>
                  <a:srgbClr val="F3F7FF"/>
                </a:solidFill>
                <a:latin typeface="Pretendard SemiBold"/>
                <a:ea typeface="Pretendard SemiBold"/>
                <a:cs typeface="Pretendard SemiBold"/>
              </a:rPr>
              <a:t>향후</a:t>
            </a:r>
            <a:r>
              <a:rPr lang="en-US" sz="2800" b="0" i="0" u="none" strike="noStrike" dirty="0">
                <a:solidFill>
                  <a:srgbClr val="F3F7FF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2800" b="0" i="0" u="none" strike="noStrike" dirty="0" err="1">
                <a:solidFill>
                  <a:srgbClr val="F3F7FF"/>
                </a:solidFill>
                <a:latin typeface="Pretendard SemiBold"/>
                <a:ea typeface="Pretendard SemiBold"/>
                <a:cs typeface="Pretendard SemiBold"/>
              </a:rPr>
              <a:t>과제</a:t>
            </a:r>
            <a:r>
              <a:rPr lang="en-US" sz="2800" b="0" i="0" u="none" strike="noStrike" dirty="0">
                <a:solidFill>
                  <a:srgbClr val="F3F7FF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907155" y="10501744"/>
            <a:ext cx="5956300" cy="2082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1" indent="-342900" algn="l">
              <a:lnSpc>
                <a:spcPct val="131140"/>
              </a:lnSpc>
              <a:buClr>
                <a:srgbClr val="000000"/>
              </a:buClr>
              <a:buFont typeface="Arial"/>
              <a:buChar char="●"/>
            </a:pPr>
            <a:r>
              <a:rPr lang="en-US" sz="2800" b="1" i="0" u="none" strike="noStrike" spc="-100" dirty="0" err="1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지자계</a:t>
            </a:r>
            <a:r>
              <a:rPr lang="en-US" sz="2800" b="1" i="0" u="none" strike="noStrike" spc="-100" dirty="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2800" b="1" i="0" u="none" strike="noStrike" spc="-100" dirty="0" err="1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센서</a:t>
            </a:r>
            <a:r>
              <a:rPr lang="en-US" sz="2800" b="1" i="0" u="none" strike="noStrike" spc="-100" dirty="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(TYPE_MAGNETIC_FIELD) </a:t>
            </a:r>
            <a:r>
              <a:rPr lang="en-US" sz="2800" b="1" i="0" u="none" strike="noStrike" spc="-100" dirty="0" err="1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특성상</a:t>
            </a:r>
            <a:r>
              <a:rPr lang="en-US" sz="2800" b="1" i="0" u="none" strike="noStrike" spc="-100" dirty="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2800" b="1" i="0" u="none" strike="noStrike" spc="-100" dirty="0" err="1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벽면</a:t>
            </a:r>
            <a:r>
              <a:rPr lang="en-US" sz="2800" b="1" i="0" u="none" strike="noStrike" spc="-100" dirty="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 내 </a:t>
            </a:r>
            <a:r>
              <a:rPr lang="en-US" sz="2800" b="1" i="0" u="none" strike="noStrike" spc="-100" dirty="0" err="1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철근·인접</a:t>
            </a:r>
            <a:r>
              <a:rPr lang="en-US" sz="2800" b="1" i="0" u="none" strike="noStrike" spc="-100" dirty="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2800" b="1" i="0" u="none" strike="noStrike" spc="-100" dirty="0" err="1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가전제품의</a:t>
            </a:r>
            <a:r>
              <a:rPr lang="en-US" sz="2800" b="1" i="0" u="none" strike="noStrike" spc="-100" dirty="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2800" b="1" i="0" u="none" strike="noStrike" spc="-100" dirty="0" err="1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자기장</a:t>
            </a:r>
            <a:r>
              <a:rPr lang="en-US" sz="2800" b="1" i="0" u="none" strike="noStrike" spc="-100" dirty="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2800" b="1" i="0" u="none" strike="noStrike" spc="-100" dirty="0" err="1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간섭으로</a:t>
            </a:r>
            <a:r>
              <a:rPr lang="en-US" sz="2800" b="1" i="0" u="none" strike="noStrike" spc="-100" dirty="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2800" b="1" i="0" u="none" strike="noStrike" spc="-100" dirty="0" err="1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미세</a:t>
            </a:r>
            <a:r>
              <a:rPr lang="en-US" sz="2800" b="1" i="0" u="none" strike="noStrike" spc="-100" dirty="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2800" b="1" i="0" u="none" strike="noStrike" spc="-100" dirty="0" err="1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오차</a:t>
            </a:r>
            <a:r>
              <a:rPr lang="en-US" sz="2800" b="1" i="0" u="none" strike="noStrike" spc="-100" dirty="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2800" b="1" i="0" u="none" strike="noStrike" spc="-100" dirty="0" err="1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발생</a:t>
            </a:r>
            <a:endParaRPr lang="en-US" sz="2800" b="1" i="0" u="none" strike="noStrike" spc="-100" dirty="0">
              <a:solidFill>
                <a:srgbClr val="000000"/>
              </a:solidFill>
              <a:latin typeface="Pretendard SemiBold"/>
              <a:ea typeface="Pretendard SemiBold"/>
              <a:cs typeface="Pretendard SemiBold"/>
            </a:endParaRPr>
          </a:p>
          <a:p>
            <a:pPr lvl="0" algn="l">
              <a:lnSpc>
                <a:spcPct val="131140"/>
              </a:lnSpc>
            </a:pPr>
            <a:endParaRPr lang="en-US" sz="2800" b="0" i="0" u="none" strike="noStrike" spc="-100" dirty="0">
              <a:solidFill>
                <a:srgbClr val="000000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17425554" y="10313553"/>
            <a:ext cx="5687291" cy="3149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1" indent="-342900">
              <a:lnSpc>
                <a:spcPct val="131140"/>
              </a:lnSpc>
              <a:buClr>
                <a:srgbClr val="000000"/>
              </a:buClr>
              <a:buFont typeface="Arial"/>
              <a:buChar char="●"/>
            </a:pPr>
            <a:r>
              <a:rPr lang="ko-KR" altLang="ko-KR" sz="28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AR </a:t>
            </a:r>
            <a:r>
              <a:rPr lang="ko-KR" altLang="en-US" sz="28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가상</a:t>
            </a:r>
            <a:r>
              <a:rPr lang="ko-KR" altLang="ko-KR" sz="28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벽면 마킹 및 시공 히스토리 저장 기능:</a:t>
            </a:r>
            <a:r>
              <a:rPr lang="ko-KR" altLang="ko-KR" sz="2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탐지된 전선 경로 위에 가상 </a:t>
            </a:r>
            <a:r>
              <a:rPr lang="ko-KR" altLang="ko-KR" sz="28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타공</a:t>
            </a:r>
            <a:r>
              <a:rPr lang="ko-KR" altLang="ko-KR" sz="2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포인트를 고정하고, 공간별 데이터를 스냅샷 형태로 보관하여 재작업 시 편의성 확보</a:t>
            </a:r>
            <a:endParaRPr lang="en-US" sz="2666" b="0" i="0" u="none" strike="noStrike" spc="-10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lvl="0" algn="l">
              <a:lnSpc>
                <a:spcPct val="131140"/>
              </a:lnSpc>
            </a:pPr>
            <a:endParaRPr lang="en-US" sz="2666" b="0" i="0" u="none" strike="noStrike" spc="-10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2374899" y="3886200"/>
            <a:ext cx="21560179" cy="3543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1" indent="-342900" algn="l">
              <a:lnSpc>
                <a:spcPct val="131140"/>
              </a:lnSpc>
              <a:buClr>
                <a:srgbClr val="000000"/>
              </a:buClr>
              <a:buFont typeface="Arial"/>
              <a:buChar char="●"/>
            </a:pPr>
            <a:r>
              <a:rPr lang="en-US" sz="3066" b="0" i="0" u="none" strike="noStrike" spc="-100" dirty="0" err="1">
                <a:solidFill>
                  <a:srgbClr val="256BFF"/>
                </a:solidFill>
                <a:latin typeface="Pretendard SemiBold"/>
                <a:ea typeface="Pretendard SemiBold"/>
                <a:cs typeface="Pretendard SemiBold"/>
              </a:rPr>
              <a:t>알고리즘</a:t>
            </a:r>
            <a:r>
              <a:rPr lang="en-US" sz="3066" b="0" i="0" u="none" strike="noStrike" spc="-100" dirty="0">
                <a:solidFill>
                  <a:srgbClr val="256BFF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3066" b="0" i="0" u="none" strike="noStrike" spc="-100" dirty="0" err="1">
                <a:solidFill>
                  <a:srgbClr val="256BFF"/>
                </a:solidFill>
                <a:latin typeface="Pretendard SemiBold"/>
                <a:ea typeface="Pretendard SemiBold"/>
                <a:cs typeface="Pretendard SemiBold"/>
              </a:rPr>
              <a:t>기반</a:t>
            </a:r>
            <a:r>
              <a:rPr lang="en-US" sz="3066" b="0" i="0" u="none" strike="noStrike" spc="-100" dirty="0">
                <a:solidFill>
                  <a:srgbClr val="256BFF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3066" b="0" i="0" u="none" strike="noStrike" spc="-100" dirty="0" err="1">
                <a:solidFill>
                  <a:srgbClr val="256BFF"/>
                </a:solidFill>
                <a:latin typeface="Pretendard SemiBold"/>
                <a:ea typeface="Pretendard SemiBold"/>
                <a:cs typeface="Pretendard SemiBold"/>
              </a:rPr>
              <a:t>데이터</a:t>
            </a:r>
            <a:r>
              <a:rPr lang="en-US" sz="3066" b="0" i="0" u="none" strike="noStrike" spc="-100" dirty="0">
                <a:solidFill>
                  <a:srgbClr val="256BFF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3066" b="0" i="0" u="none" strike="noStrike" spc="-100" dirty="0" err="1">
                <a:solidFill>
                  <a:srgbClr val="256BFF"/>
                </a:solidFill>
                <a:latin typeface="Pretendard SemiBold"/>
                <a:ea typeface="Pretendard SemiBold"/>
                <a:cs typeface="Pretendard SemiBold"/>
              </a:rPr>
              <a:t>정제</a:t>
            </a:r>
            <a:r>
              <a:rPr lang="en-US" sz="3066" b="0" i="0" u="none" strike="noStrike" spc="-100" dirty="0">
                <a:solidFill>
                  <a:srgbClr val="256BFF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3066" b="0" i="0" u="none" strike="noStrike" spc="-100" dirty="0" err="1">
                <a:solidFill>
                  <a:srgbClr val="256BFF"/>
                </a:solidFill>
                <a:latin typeface="Pretendard SemiBold"/>
                <a:ea typeface="Pretendard SemiBold"/>
                <a:cs typeface="Pretendard SemiBold"/>
              </a:rPr>
              <a:t>역량</a:t>
            </a:r>
            <a:r>
              <a:rPr lang="en-US" sz="3066" b="0" i="0" u="none" strike="noStrike" spc="-100" dirty="0">
                <a:solidFill>
                  <a:srgbClr val="256BFF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3066" b="0" i="0" u="none" strike="noStrike" spc="-100" dirty="0" err="1">
                <a:solidFill>
                  <a:srgbClr val="256BFF"/>
                </a:solidFill>
                <a:latin typeface="Pretendard SemiBold"/>
                <a:ea typeface="Pretendard SemiBold"/>
                <a:cs typeface="Pretendard SemiBold"/>
              </a:rPr>
              <a:t>향상</a:t>
            </a:r>
            <a:br>
              <a:rPr lang="en-US" sz="3066" b="0" i="0" u="none" strike="noStrike" spc="-100" dirty="0">
                <a:solidFill>
                  <a:srgbClr val="256BFF"/>
                </a:solidFill>
                <a:latin typeface="Pretendard SemiBold"/>
                <a:ea typeface="Pretendard SemiBold"/>
                <a:cs typeface="Pretendard SemiBold"/>
              </a:rPr>
            </a:br>
            <a:r>
              <a:rPr lang="en-US" sz="2800" b="0" i="0" u="none" strike="noStrike" spc="-100" dirty="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: </a:t>
            </a:r>
            <a:r>
              <a:rPr lang="en-US" sz="2800" b="0" i="0" u="none" strike="noStrike" spc="-100" dirty="0" err="1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안드로이드</a:t>
            </a:r>
            <a:r>
              <a:rPr lang="en-US" sz="2800" b="0" i="0" u="none" strike="noStrike" spc="-100" dirty="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2800" b="0" i="0" u="none" strike="noStrike" spc="-100" dirty="0" err="1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가속도·지자기</a:t>
            </a:r>
            <a:r>
              <a:rPr lang="en-US" sz="2800" b="0" i="0" u="none" strike="noStrike" spc="-100" dirty="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2800" b="0" i="0" u="none" strike="noStrike" spc="-100" dirty="0" err="1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센서의</a:t>
            </a:r>
            <a:r>
              <a:rPr lang="en-US" sz="2800" b="0" i="0" u="none" strike="noStrike" spc="-100" dirty="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2800" b="0" i="0" u="none" strike="noStrike" spc="-100" dirty="0" err="1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물리적</a:t>
            </a:r>
            <a:r>
              <a:rPr lang="en-US" sz="2800" b="0" i="0" u="none" strike="noStrike" spc="-100" dirty="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2800" b="0" i="0" u="none" strike="noStrike" spc="-100" dirty="0" err="1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노이즈문제를</a:t>
            </a:r>
            <a:r>
              <a:rPr lang="en-US" sz="2800" b="0" i="0" u="none" strike="noStrike" spc="-100" dirty="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2800" b="0" i="0" u="none" strike="noStrike" spc="-100" dirty="0" err="1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이중</a:t>
            </a:r>
            <a:r>
              <a:rPr lang="en-US" sz="2800" b="0" i="0" u="none" strike="noStrike" spc="-100" dirty="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2800" b="0" i="0" u="none" strike="noStrike" spc="-100" dirty="0" err="1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저역통과필터</a:t>
            </a:r>
            <a:r>
              <a:rPr lang="en-US" sz="2800" b="0" i="0" u="none" strike="noStrike" spc="-100" dirty="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2800" b="0" i="0" u="none" strike="noStrike" spc="-100" dirty="0" err="1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구현을</a:t>
            </a:r>
            <a:r>
              <a:rPr lang="en-US" sz="2800" b="0" i="0" u="none" strike="noStrike" spc="-100" dirty="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2800" b="0" i="0" u="none" strike="noStrike" spc="-100" dirty="0" err="1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통한</a:t>
            </a:r>
            <a:r>
              <a:rPr lang="en-US" sz="2800" b="0" i="0" u="none" strike="noStrike" spc="-100" dirty="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2800" b="0" i="0" u="none" strike="noStrike" spc="-100" dirty="0" err="1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가속도·지자기</a:t>
            </a:r>
            <a:r>
              <a:rPr lang="en-US" sz="2800" b="0" i="0" u="none" strike="noStrike" spc="-100" dirty="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2800" b="0" i="0" u="none" strike="noStrike" spc="-100" dirty="0" err="1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센서의</a:t>
            </a:r>
            <a:r>
              <a:rPr lang="en-US" sz="2800" b="0" i="0" u="none" strike="noStrike" spc="-100" dirty="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2800" b="0" i="0" u="none" strike="noStrike" spc="-100" dirty="0" err="1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물리적</a:t>
            </a:r>
            <a:r>
              <a:rPr lang="en-US" sz="2800" b="0" i="0" u="none" strike="noStrike" spc="-100" dirty="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2800" b="0" i="0" u="none" strike="noStrike" spc="-100" dirty="0" err="1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노이즈</a:t>
            </a:r>
            <a:r>
              <a:rPr lang="en-US" sz="2800" b="0" i="0" u="none" strike="noStrike" spc="-100" dirty="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2800" b="0" i="0" u="none" strike="noStrike" spc="-100" dirty="0" err="1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제어</a:t>
            </a:r>
            <a:r>
              <a:rPr lang="en-US" sz="2800" b="0" i="0" u="none" strike="noStrike" spc="-100" dirty="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 및 </a:t>
            </a:r>
            <a:r>
              <a:rPr lang="en-US" sz="2800" b="0" i="0" u="none" strike="noStrike" spc="-100" dirty="0" err="1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고정밀</a:t>
            </a:r>
            <a:r>
              <a:rPr lang="en-US" sz="2800" b="0" i="0" u="none" strike="noStrike" spc="-100" dirty="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2800" b="0" i="0" u="none" strike="noStrike" spc="-100" dirty="0" err="1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데이터</a:t>
            </a:r>
            <a:r>
              <a:rPr lang="en-US" sz="2800" b="0" i="0" u="none" strike="noStrike" spc="-100" dirty="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2800" b="0" i="0" u="none" strike="noStrike" spc="-100" dirty="0" err="1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확보</a:t>
            </a:r>
            <a:r>
              <a:rPr lang="en-US" sz="2800" b="0" i="0" u="none" strike="noStrike" spc="-100" dirty="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2800" b="0" i="0" u="none" strike="noStrike" spc="-100" dirty="0" err="1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기술</a:t>
            </a:r>
            <a:r>
              <a:rPr lang="en-US" sz="2800" b="0" i="0" u="none" strike="noStrike" spc="-100" dirty="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2800" b="0" i="0" u="none" strike="noStrike" spc="-100" dirty="0" err="1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체득</a:t>
            </a:r>
            <a:endParaRPr lang="en-US" sz="2800" b="0" i="0" u="none" strike="noStrike" spc="-100" dirty="0">
              <a:solidFill>
                <a:srgbClr val="000000"/>
              </a:solidFill>
              <a:latin typeface="Pretendard SemiBold"/>
              <a:ea typeface="Pretendard SemiBold"/>
              <a:cs typeface="Pretendard SemiBold"/>
            </a:endParaRPr>
          </a:p>
          <a:p>
            <a:pPr lvl="0" algn="l">
              <a:lnSpc>
                <a:spcPct val="131140"/>
              </a:lnSpc>
            </a:pPr>
            <a:endParaRPr lang="en-US" sz="2666" b="0" i="0" u="none" strike="noStrike" spc="-100" dirty="0">
              <a:solidFill>
                <a:srgbClr val="000000"/>
              </a:solidFill>
              <a:latin typeface="Pretendard SemiBold"/>
              <a:ea typeface="Pretendard SemiBold"/>
              <a:cs typeface="Pretendard SemiBold"/>
            </a:endParaRPr>
          </a:p>
          <a:p>
            <a:pPr marL="342900" lvl="1" indent="-342900" algn="l">
              <a:lnSpc>
                <a:spcPct val="131140"/>
              </a:lnSpc>
              <a:buClr>
                <a:srgbClr val="000000"/>
              </a:buClr>
              <a:buFont typeface="Arial"/>
              <a:buChar char="●"/>
            </a:pPr>
            <a:r>
              <a:rPr lang="en-US" sz="3066" b="0" i="0" u="none" strike="noStrike" spc="-100" dirty="0" err="1">
                <a:solidFill>
                  <a:srgbClr val="256BFF"/>
                </a:solidFill>
                <a:latin typeface="Pretendard SemiBold"/>
                <a:ea typeface="Pretendard SemiBold"/>
                <a:cs typeface="Pretendard SemiBold"/>
              </a:rPr>
              <a:t>실무적</a:t>
            </a:r>
            <a:r>
              <a:rPr lang="en-US" sz="3066" b="0" i="0" u="none" strike="noStrike" spc="-100" dirty="0">
                <a:solidFill>
                  <a:srgbClr val="256BFF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3066" b="0" i="0" u="none" strike="noStrike" spc="-100" dirty="0" err="1">
                <a:solidFill>
                  <a:srgbClr val="256BFF"/>
                </a:solidFill>
                <a:latin typeface="Pretendard SemiBold"/>
                <a:ea typeface="Pretendard SemiBold"/>
                <a:cs typeface="Pretendard SemiBold"/>
              </a:rPr>
              <a:t>관점의</a:t>
            </a:r>
            <a:r>
              <a:rPr lang="en-US" sz="3066" b="0" i="0" u="none" strike="noStrike" spc="-100" dirty="0">
                <a:solidFill>
                  <a:srgbClr val="256BFF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3066" b="0" i="0" u="none" strike="noStrike" spc="-100" dirty="0" err="1">
                <a:solidFill>
                  <a:srgbClr val="256BFF"/>
                </a:solidFill>
                <a:latin typeface="Pretendard SemiBold"/>
                <a:ea typeface="Pretendard SemiBold"/>
                <a:cs typeface="Pretendard SemiBold"/>
              </a:rPr>
              <a:t>사용자</a:t>
            </a:r>
            <a:r>
              <a:rPr lang="en-US" sz="3066" b="0" i="0" u="none" strike="noStrike" spc="-100" dirty="0">
                <a:solidFill>
                  <a:srgbClr val="256BFF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3066" b="0" i="0" u="none" strike="noStrike" spc="-100" dirty="0" err="1">
                <a:solidFill>
                  <a:srgbClr val="256BFF"/>
                </a:solidFill>
                <a:latin typeface="Pretendard SemiBold"/>
                <a:ea typeface="Pretendard SemiBold"/>
                <a:cs typeface="Pretendard SemiBold"/>
              </a:rPr>
              <a:t>경험</a:t>
            </a:r>
            <a:r>
              <a:rPr lang="en-US" sz="3066" b="0" i="0" u="none" strike="noStrike" spc="-100" dirty="0">
                <a:solidFill>
                  <a:srgbClr val="256BFF"/>
                </a:solidFill>
                <a:latin typeface="Pretendard SemiBold"/>
                <a:ea typeface="Pretendard SemiBold"/>
                <a:cs typeface="Pretendard SemiBold"/>
              </a:rPr>
              <a:t>(UX) </a:t>
            </a:r>
            <a:r>
              <a:rPr lang="en-US" sz="3066" b="0" i="0" u="none" strike="noStrike" spc="-100" dirty="0" err="1">
                <a:solidFill>
                  <a:srgbClr val="256BFF"/>
                </a:solidFill>
                <a:latin typeface="Pretendard SemiBold"/>
                <a:ea typeface="Pretendard SemiBold"/>
                <a:cs typeface="Pretendard SemiBold"/>
              </a:rPr>
              <a:t>최적화</a:t>
            </a:r>
            <a:r>
              <a:rPr lang="en-US" sz="3066" b="0" i="0" u="none" strike="noStrike" spc="-100" dirty="0">
                <a:solidFill>
                  <a:srgbClr val="256BFF"/>
                </a:solidFill>
                <a:latin typeface="Pretendard SemiBold"/>
                <a:ea typeface="Pretendard SemiBold"/>
                <a:cs typeface="Pretendard SemiBold"/>
              </a:rPr>
              <a:t> </a:t>
            </a:r>
            <a:br>
              <a:rPr lang="en-US" sz="3066" b="0" i="0" u="none" strike="noStrike" spc="-100" dirty="0">
                <a:solidFill>
                  <a:srgbClr val="256BFF"/>
                </a:solidFill>
                <a:latin typeface="Pretendard SemiBold"/>
                <a:ea typeface="Pretendard SemiBold"/>
                <a:cs typeface="Pretendard SemiBold"/>
              </a:rPr>
            </a:br>
            <a:r>
              <a:rPr lang="en-US" sz="2800" b="0" i="0" u="none" strike="noStrike" spc="-100" dirty="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: </a:t>
            </a:r>
            <a:r>
              <a:rPr lang="en-US" sz="2800" b="0" i="0" u="none" strike="noStrike" spc="-100" dirty="0" err="1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현장</a:t>
            </a:r>
            <a:r>
              <a:rPr lang="en-US" sz="2800" b="0" i="0" u="none" strike="noStrike" spc="-100" dirty="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2800" b="0" i="0" u="none" strike="noStrike" spc="-100" dirty="0" err="1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시공</a:t>
            </a:r>
            <a:r>
              <a:rPr lang="en-US" sz="2800" b="0" i="0" u="none" strike="noStrike" spc="-100" dirty="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2800" b="0" i="0" u="none" strike="noStrike" spc="-100" dirty="0" err="1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환경을</a:t>
            </a:r>
            <a:r>
              <a:rPr lang="en-US" sz="2800" b="0" i="0" u="none" strike="noStrike" spc="-100" dirty="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2800" b="0" i="0" u="none" strike="noStrike" spc="-100" dirty="0" err="1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반영한</a:t>
            </a:r>
            <a:r>
              <a:rPr lang="en-US" sz="2800" b="0" i="0" u="none" strike="noStrike" spc="-100" dirty="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2800" b="0" i="0" u="none" strike="noStrike" spc="-100" dirty="0" err="1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바닥</a:t>
            </a:r>
            <a:r>
              <a:rPr lang="en-US" sz="2800" b="0" i="0" u="none" strike="noStrike" spc="-100" dirty="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/</a:t>
            </a:r>
            <a:r>
              <a:rPr lang="en-US" sz="2800" b="0" i="0" u="none" strike="noStrike" spc="-100" dirty="0" err="1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벽면</a:t>
            </a:r>
            <a:r>
              <a:rPr lang="en-US" sz="2800" b="0" i="0" u="none" strike="noStrike" spc="-100" dirty="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2800" b="0" i="0" u="none" strike="noStrike" spc="-100" dirty="0" err="1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이원화</a:t>
            </a:r>
            <a:r>
              <a:rPr lang="en-US" sz="2800" b="0" i="0" u="none" strike="noStrike" spc="-100" dirty="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2800" b="0" i="0" u="none" strike="noStrike" spc="-100" dirty="0" err="1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모드</a:t>
            </a:r>
            <a:r>
              <a:rPr lang="en-US" sz="2800" b="0" i="0" u="none" strike="noStrike" spc="-100" dirty="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2800" b="0" i="0" u="none" strike="noStrike" spc="-100" dirty="0" err="1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설계</a:t>
            </a:r>
            <a:r>
              <a:rPr lang="en-US" sz="2800" b="0" i="0" u="none" strike="noStrike" spc="-100" dirty="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 및 </a:t>
            </a:r>
            <a:r>
              <a:rPr lang="en-US" sz="2800" b="0" i="0" u="none" strike="noStrike" spc="-100" dirty="0" err="1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햅틱</a:t>
            </a:r>
            <a:r>
              <a:rPr lang="en-US" sz="2800" b="0" i="0" u="none" strike="noStrike" spc="-100" dirty="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2800" b="0" i="0" u="none" strike="noStrike" spc="-100" dirty="0" err="1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피드백</a:t>
            </a:r>
            <a:r>
              <a:rPr lang="en-US" sz="2800" b="0" i="0" u="none" strike="noStrike" spc="-100" dirty="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2800" b="0" i="0" u="none" strike="noStrike" spc="-100" dirty="0" err="1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예외</a:t>
            </a:r>
            <a:r>
              <a:rPr lang="en-US" sz="2800" b="0" i="0" u="none" strike="noStrike" spc="-100" dirty="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2800" b="0" i="0" u="none" strike="noStrike" spc="-100" dirty="0" err="1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처리를</a:t>
            </a:r>
            <a:r>
              <a:rPr lang="en-US" sz="2800" b="0" i="0" u="none" strike="noStrike" spc="-100" dirty="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2800" b="0" i="0" u="none" strike="noStrike" spc="-100" dirty="0" err="1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통한</a:t>
            </a:r>
            <a:r>
              <a:rPr lang="en-US" sz="2800" b="0" i="0" u="none" strike="noStrike" spc="-100" dirty="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2800" b="0" i="0" u="none" strike="noStrike" spc="-100" dirty="0" err="1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실무형</a:t>
            </a:r>
            <a:r>
              <a:rPr lang="en-US" sz="2800" b="0" i="0" u="none" strike="noStrike" spc="-100" dirty="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2800" b="0" i="0" u="none" strike="noStrike" spc="-100" dirty="0" err="1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인터페이스</a:t>
            </a:r>
            <a:r>
              <a:rPr lang="en-US" sz="2800" b="0" i="0" u="none" strike="noStrike" spc="-100" dirty="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2800" b="0" i="0" u="none" strike="noStrike" spc="-100" dirty="0" err="1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설계</a:t>
            </a:r>
            <a:r>
              <a:rPr lang="en-US" sz="2800" b="0" i="0" u="none" strike="noStrike" spc="-100" dirty="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2800" b="0" i="0" u="none" strike="noStrike" spc="-100" dirty="0" err="1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역량</a:t>
            </a:r>
            <a:r>
              <a:rPr lang="en-US" sz="2800" b="0" i="0" u="none" strike="noStrike" spc="-100" dirty="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2800" b="0" i="0" u="none" strike="noStrike" spc="-100" dirty="0" err="1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강화</a:t>
            </a:r>
            <a:endParaRPr lang="en-US" sz="2800" b="0" i="0" u="none" strike="noStrike" spc="-100" dirty="0">
              <a:solidFill>
                <a:srgbClr val="000000"/>
              </a:solidFill>
              <a:latin typeface="Pretendard SemiBold"/>
              <a:ea typeface="Pretendard SemiBold"/>
              <a:cs typeface="Pretendard SemiBold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774700" y="2260600"/>
            <a:ext cx="22834600" cy="11455400"/>
          </a:xfrm>
          <a:prstGeom prst="rect">
            <a:avLst/>
          </a:prstGeom>
          <a:effectLst>
            <a:outerShdw blurRad="515591" dist="88135" dir="2700000">
              <a:srgbClr val="256BFF">
                <a:alpha val="15000"/>
              </a:srgbClr>
            </a:outerShdw>
          </a:effectLst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 rot="5280000">
            <a:off x="20447000" y="5588000"/>
            <a:ext cx="7137400" cy="71374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3009900" y="6489700"/>
            <a:ext cx="18364200" cy="1663700"/>
          </a:xfrm>
          <a:prstGeom prst="rect">
            <a:avLst/>
          </a:prstGeom>
        </p:spPr>
        <p:txBody>
          <a:bodyPr lIns="0" tIns="59266" rIns="0" bIns="0" rtlCol="0" anchor="t"/>
          <a:lstStyle/>
          <a:p>
            <a:pPr lvl="0" algn="ctr">
              <a:lnSpc>
                <a:spcPct val="107899"/>
              </a:lnSpc>
            </a:pPr>
            <a:r>
              <a:rPr lang="en-US" sz="9333" b="0" i="0" u="none" strike="noStrike" dirty="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Q&amp;A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13068300" y="3035300"/>
            <a:ext cx="4152900" cy="10033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-228600" y="796064"/>
            <a:ext cx="3454400" cy="952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07899"/>
              </a:lnSpc>
            </a:pPr>
            <a:r>
              <a:rPr lang="en-US" altLang="ko-KR" sz="5400" dirty="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Q&amp;A</a:t>
            </a:r>
          </a:p>
        </p:txBody>
      </p:sp>
      <p:sp>
        <p:nvSpPr>
          <p:cNvPr id="7" name="TextBox 10">
            <a:extLst>
              <a:ext uri="{FF2B5EF4-FFF2-40B4-BE49-F238E27FC236}">
                <a16:creationId xmlns:a16="http://schemas.microsoft.com/office/drawing/2014/main" id="{AD686661-0186-4255-8E2E-CDB7097E2CD1}"/>
              </a:ext>
            </a:extLst>
          </p:cNvPr>
          <p:cNvSpPr txBox="1"/>
          <p:nvPr/>
        </p:nvSpPr>
        <p:spPr>
          <a:xfrm>
            <a:off x="10972800" y="8286163"/>
            <a:ext cx="3248309" cy="905164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altLang="en-US" sz="4800" dirty="0">
                <a:solidFill>
                  <a:srgbClr val="4E4E4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감사합니다</a:t>
            </a:r>
            <a:r>
              <a:rPr lang="en-US" altLang="ko-KR" sz="4800" dirty="0">
                <a:solidFill>
                  <a:srgbClr val="4E4E4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.</a:t>
            </a:r>
            <a:endParaRPr lang="en-US" sz="4800" b="0" i="0" u="none" strike="noStrike" dirty="0">
              <a:solidFill>
                <a:srgbClr val="4E4E4E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1123</Words>
  <Application>Microsoft Office PowerPoint</Application>
  <PresentationFormat>사용자 지정</PresentationFormat>
  <Paragraphs>149</Paragraphs>
  <Slides>16</Slides>
  <Notes>0</Notes>
  <HiddenSlides>0</HiddenSlides>
  <MMClips>1</MMClips>
  <ScaleCrop>false</ScaleCrop>
  <HeadingPairs>
    <vt:vector size="6" baseType="variant">
      <vt:variant>
        <vt:lpstr>사용한 글꼴</vt:lpstr>
      </vt:variant>
      <vt:variant>
        <vt:i4>11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8" baseType="lpstr">
      <vt:lpstr>Pretendard</vt:lpstr>
      <vt:lpstr>Pretendard Medium</vt:lpstr>
      <vt:lpstr>Prompt-Regular</vt:lpstr>
      <vt:lpstr>Pretendard Bold</vt:lpstr>
      <vt:lpstr>Calibri</vt:lpstr>
      <vt:lpstr>Prompt-Light</vt:lpstr>
      <vt:lpstr>Pretendard SemiBold</vt:lpstr>
      <vt:lpstr>Pretendard Regular</vt:lpstr>
      <vt:lpstr>Arial</vt:lpstr>
      <vt:lpstr>Prompt-Medium</vt:lpstr>
      <vt:lpstr>Prompt-SemiBold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임수정</dc:creator>
  <cp:lastModifiedBy>수정 임</cp:lastModifiedBy>
  <cp:revision>18</cp:revision>
  <dcterms:created xsi:type="dcterms:W3CDTF">2006-08-16T00:00:00Z</dcterms:created>
  <dcterms:modified xsi:type="dcterms:W3CDTF">2026-06-16T11:14:44Z</dcterms:modified>
</cp:coreProperties>
</file>